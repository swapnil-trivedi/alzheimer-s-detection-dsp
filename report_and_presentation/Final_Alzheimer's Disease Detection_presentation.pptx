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73" r:id="rId3"/>
    <p:sldId id="258" r:id="rId4"/>
    <p:sldId id="268" r:id="rId5"/>
    <p:sldId id="266" r:id="rId6"/>
    <p:sldId id="259" r:id="rId7"/>
    <p:sldId id="260" r:id="rId8"/>
    <p:sldId id="269" r:id="rId9"/>
    <p:sldId id="270" r:id="rId10"/>
    <p:sldId id="271" r:id="rId11"/>
    <p:sldId id="272" r:id="rId12"/>
    <p:sldId id="274" r:id="rId13"/>
    <p:sldId id="262" r:id="rId14"/>
    <p:sldId id="263" r:id="rId15"/>
    <p:sldId id="264" r:id="rId16"/>
    <p:sldId id="265" r:id="rId17"/>
    <p:sldId id="275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36812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FE870-5699-F1B3-60CA-13691B750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90EAAF-A3CC-B250-DBB5-83C9285780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999599-CB08-F842-5659-CC8FFC726D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F08107-5CAB-3FF8-3EA1-8EAC36D840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4936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F67C2-9F3B-5CEE-C65D-C1BEA62FA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67165B-978A-B07C-EBE9-3E7DAA8870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068632-C8CA-30E4-83E4-F04BC44850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D6C000-9953-B4EB-2577-A023B6D5C2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0628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7F3EC-8CE1-FB32-7110-4885DB77A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553B4E-26BD-4928-8454-960320635F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60E549-1ECD-9FDC-2198-65B5F2B686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2A059A-886A-FB3A-5667-55B0892C13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6701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0DE33-5A42-6A73-6FAC-FF1626440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C3BD02-754A-43E5-3EF8-4DB486D177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F06671-0AF5-D7A3-4A05-937A50442D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08F526-691A-5652-EAA8-D3BDAFE915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4740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06491-C96F-9BA1-5E1B-29EF2C499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E77ACD-0D8C-19C5-5DF3-4A7EE1A8B7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B83860-B2DD-959C-D17F-EF1FBA56C0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70F545-8B39-DD5E-F148-38B040425D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725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125EC-AD05-5187-AB0D-792243563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9A30B9-E00B-0E6E-59B8-4BC2DBDCB2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47438B-25CD-965F-EF6D-056FCCEA78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FC1B69-22FC-1DF4-FBFC-3E3D913E92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6167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AD89B-BA5B-534F-2245-8777B91A9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1BC930-77BF-D032-8740-3E9810844A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9D99D0-D79B-8C4C-1F83-DA3576AF42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F48E66-7159-D4FE-33A0-FA171D4C7C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6385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E1BEE-C476-8F00-7856-8C98AF114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EC11E2-310E-5B14-CD33-54F2998FDC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B5930D-3112-547A-885F-108599AB62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B5FC16-EA28-81D7-640B-259049FF9A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803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F7E2E-CFEE-C2F1-1458-89CDA485E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A10EDC-243D-50E2-81DC-4C5ECA5F7D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41C2B7-9136-8330-53CB-B3144D02D1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B8569B-BD91-870A-AF11-5DF8768C2E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482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hyperlink" Target="mailto:manojkokane@iisc.ac.in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18" Type="http://schemas.openxmlformats.org/officeDocument/2006/relationships/image" Target="../media/image32.png"/><Relationship Id="rId3" Type="http://schemas.openxmlformats.org/officeDocument/2006/relationships/image" Target="../media/image18.png"/><Relationship Id="rId21" Type="http://schemas.openxmlformats.org/officeDocument/2006/relationships/image" Target="../media/image35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17" Type="http://schemas.openxmlformats.org/officeDocument/2006/relationships/image" Target="../media/image31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0.png"/><Relationship Id="rId20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24" Type="http://schemas.openxmlformats.org/officeDocument/2006/relationships/image" Target="../media/image38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23" Type="http://schemas.openxmlformats.org/officeDocument/2006/relationships/image" Target="../media/image37.png"/><Relationship Id="rId10" Type="http://schemas.openxmlformats.org/officeDocument/2006/relationships/image" Target="../media/image24.png"/><Relationship Id="rId19" Type="http://schemas.openxmlformats.org/officeDocument/2006/relationships/image" Target="../media/image33.png"/><Relationship Id="rId4" Type="http://schemas.openxmlformats.org/officeDocument/2006/relationships/image" Target="../media/image11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Relationship Id="rId22" Type="http://schemas.openxmlformats.org/officeDocument/2006/relationships/image" Target="../media/image3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3.png"/><Relationship Id="rId18" Type="http://schemas.openxmlformats.org/officeDocument/2006/relationships/image" Target="../media/image58.png"/><Relationship Id="rId3" Type="http://schemas.openxmlformats.org/officeDocument/2006/relationships/image" Target="../media/image39.png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17" Type="http://schemas.openxmlformats.org/officeDocument/2006/relationships/image" Target="../media/image57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56.png"/><Relationship Id="rId20" Type="http://schemas.openxmlformats.org/officeDocument/2006/relationships/image" Target="../media/image5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5" Type="http://schemas.openxmlformats.org/officeDocument/2006/relationships/image" Target="../media/image55.png"/><Relationship Id="rId10" Type="http://schemas.openxmlformats.org/officeDocument/2006/relationships/image" Target="../media/image50.png"/><Relationship Id="rId19" Type="http://schemas.openxmlformats.org/officeDocument/2006/relationships/image" Target="../media/image23.png"/><Relationship Id="rId4" Type="http://schemas.openxmlformats.org/officeDocument/2006/relationships/image" Target="../media/image11.png"/><Relationship Id="rId9" Type="http://schemas.openxmlformats.org/officeDocument/2006/relationships/image" Target="../media/image49.png"/><Relationship Id="rId14" Type="http://schemas.openxmlformats.org/officeDocument/2006/relationships/image" Target="../media/image5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68.png"/><Relationship Id="rId3" Type="http://schemas.openxmlformats.org/officeDocument/2006/relationships/image" Target="../media/image11.png"/><Relationship Id="rId7" Type="http://schemas.openxmlformats.org/officeDocument/2006/relationships/image" Target="../media/image62.png"/><Relationship Id="rId12" Type="http://schemas.openxmlformats.org/officeDocument/2006/relationships/image" Target="../media/image67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7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66.png"/><Relationship Id="rId5" Type="http://schemas.openxmlformats.org/officeDocument/2006/relationships/image" Target="../media/image61.png"/><Relationship Id="rId15" Type="http://schemas.openxmlformats.org/officeDocument/2006/relationships/image" Target="../media/image70.png"/><Relationship Id="rId10" Type="http://schemas.openxmlformats.org/officeDocument/2006/relationships/image" Target="../media/image65.png"/><Relationship Id="rId4" Type="http://schemas.openxmlformats.org/officeDocument/2006/relationships/image" Target="../media/image60.png"/><Relationship Id="rId9" Type="http://schemas.openxmlformats.org/officeDocument/2006/relationships/image" Target="../media/image64.png"/><Relationship Id="rId14" Type="http://schemas.openxmlformats.org/officeDocument/2006/relationships/image" Target="../media/image6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13" Type="http://schemas.openxmlformats.org/officeDocument/2006/relationships/image" Target="../media/image84.png"/><Relationship Id="rId3" Type="http://schemas.openxmlformats.org/officeDocument/2006/relationships/image" Target="../media/image11.png"/><Relationship Id="rId7" Type="http://schemas.openxmlformats.org/officeDocument/2006/relationships/image" Target="../media/image78.png"/><Relationship Id="rId12" Type="http://schemas.openxmlformats.org/officeDocument/2006/relationships/image" Target="../media/image8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7.png"/><Relationship Id="rId11" Type="http://schemas.openxmlformats.org/officeDocument/2006/relationships/image" Target="../media/image82.png"/><Relationship Id="rId5" Type="http://schemas.openxmlformats.org/officeDocument/2006/relationships/image" Target="../media/image76.png"/><Relationship Id="rId10" Type="http://schemas.openxmlformats.org/officeDocument/2006/relationships/image" Target="../media/image81.png"/><Relationship Id="rId4" Type="http://schemas.openxmlformats.org/officeDocument/2006/relationships/image" Target="../media/image55.png"/><Relationship Id="rId9" Type="http://schemas.openxmlformats.org/officeDocument/2006/relationships/image" Target="../media/image8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13" Type="http://schemas.openxmlformats.org/officeDocument/2006/relationships/image" Target="../media/image94.png"/><Relationship Id="rId18" Type="http://schemas.openxmlformats.org/officeDocument/2006/relationships/image" Target="../media/image99.png"/><Relationship Id="rId3" Type="http://schemas.openxmlformats.org/officeDocument/2006/relationships/image" Target="../media/image11.png"/><Relationship Id="rId21" Type="http://schemas.openxmlformats.org/officeDocument/2006/relationships/image" Target="../media/image102.png"/><Relationship Id="rId7" Type="http://schemas.openxmlformats.org/officeDocument/2006/relationships/image" Target="../media/image88.png"/><Relationship Id="rId12" Type="http://schemas.openxmlformats.org/officeDocument/2006/relationships/image" Target="../media/image93.png"/><Relationship Id="rId17" Type="http://schemas.openxmlformats.org/officeDocument/2006/relationships/image" Target="../media/image98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97.png"/><Relationship Id="rId20" Type="http://schemas.openxmlformats.org/officeDocument/2006/relationships/image" Target="../media/image10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7.png"/><Relationship Id="rId11" Type="http://schemas.openxmlformats.org/officeDocument/2006/relationships/image" Target="../media/image92.png"/><Relationship Id="rId5" Type="http://schemas.openxmlformats.org/officeDocument/2006/relationships/image" Target="../media/image86.png"/><Relationship Id="rId15" Type="http://schemas.openxmlformats.org/officeDocument/2006/relationships/image" Target="../media/image96.png"/><Relationship Id="rId10" Type="http://schemas.openxmlformats.org/officeDocument/2006/relationships/image" Target="../media/image91.png"/><Relationship Id="rId19" Type="http://schemas.openxmlformats.org/officeDocument/2006/relationships/image" Target="../media/image100.png"/><Relationship Id="rId4" Type="http://schemas.openxmlformats.org/officeDocument/2006/relationships/image" Target="../media/image85.png"/><Relationship Id="rId9" Type="http://schemas.openxmlformats.org/officeDocument/2006/relationships/image" Target="../media/image90.png"/><Relationship Id="rId14" Type="http://schemas.openxmlformats.org/officeDocument/2006/relationships/image" Target="../media/image9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3" Type="http://schemas.openxmlformats.org/officeDocument/2006/relationships/image" Target="../media/image11.png"/><Relationship Id="rId7" Type="http://schemas.openxmlformats.org/officeDocument/2006/relationships/image" Target="../media/image10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5.png"/><Relationship Id="rId5" Type="http://schemas.openxmlformats.org/officeDocument/2006/relationships/image" Target="../media/image104.png"/><Relationship Id="rId10" Type="http://schemas.openxmlformats.org/officeDocument/2006/relationships/image" Target="../media/image109.png"/><Relationship Id="rId4" Type="http://schemas.openxmlformats.org/officeDocument/2006/relationships/image" Target="../media/image103.png"/><Relationship Id="rId9" Type="http://schemas.openxmlformats.org/officeDocument/2006/relationships/image" Target="../media/image10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png"/><Relationship Id="rId13" Type="http://schemas.openxmlformats.org/officeDocument/2006/relationships/image" Target="../media/image117.png"/><Relationship Id="rId18" Type="http://schemas.openxmlformats.org/officeDocument/2006/relationships/image" Target="../media/image122.png"/><Relationship Id="rId3" Type="http://schemas.openxmlformats.org/officeDocument/2006/relationships/image" Target="../media/image11.png"/><Relationship Id="rId7" Type="http://schemas.openxmlformats.org/officeDocument/2006/relationships/image" Target="../media/image83.png"/><Relationship Id="rId12" Type="http://schemas.openxmlformats.org/officeDocument/2006/relationships/image" Target="../media/image116.png"/><Relationship Id="rId17" Type="http://schemas.openxmlformats.org/officeDocument/2006/relationships/image" Target="../media/image121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1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1.png"/><Relationship Id="rId11" Type="http://schemas.openxmlformats.org/officeDocument/2006/relationships/image" Target="../media/image115.png"/><Relationship Id="rId5" Type="http://schemas.openxmlformats.org/officeDocument/2006/relationships/image" Target="../media/image111.png"/><Relationship Id="rId15" Type="http://schemas.openxmlformats.org/officeDocument/2006/relationships/image" Target="../media/image119.png"/><Relationship Id="rId10" Type="http://schemas.openxmlformats.org/officeDocument/2006/relationships/image" Target="../media/image114.png"/><Relationship Id="rId4" Type="http://schemas.openxmlformats.org/officeDocument/2006/relationships/image" Target="../media/image110.png"/><Relationship Id="rId9" Type="http://schemas.openxmlformats.org/officeDocument/2006/relationships/image" Target="../media/image113.png"/><Relationship Id="rId14" Type="http://schemas.openxmlformats.org/officeDocument/2006/relationships/image" Target="../media/image1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9250" y="0"/>
            <a:ext cx="2857500" cy="385762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0800" y="762000"/>
            <a:ext cx="1219200" cy="12192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0350" y="4572000"/>
            <a:ext cx="1524000" cy="1524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96369" y="3333750"/>
            <a:ext cx="304800" cy="381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8339" y="3333750"/>
            <a:ext cx="342900" cy="381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24948" y="3333750"/>
            <a:ext cx="428625" cy="381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17632" y="3333750"/>
            <a:ext cx="342900" cy="381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93955" y="4705350"/>
            <a:ext cx="4838700" cy="12001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20349" y="6438900"/>
            <a:ext cx="2743051" cy="190500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456852" y="476250"/>
            <a:ext cx="11239798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500"/>
              </a:lnSpc>
              <a:buNone/>
            </a:pPr>
            <a:r>
              <a:rPr lang="en-US" sz="3200" b="1" kern="0" spc="-90" dirty="0">
                <a:solidFill>
                  <a:srgbClr val="FFFF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Team 22</a:t>
            </a:r>
          </a:p>
          <a:p>
            <a:pPr marL="0" indent="0" algn="ctr">
              <a:lnSpc>
                <a:spcPts val="4500"/>
              </a:lnSpc>
              <a:buNone/>
            </a:pPr>
            <a:endParaRPr lang="en-US" sz="3200" b="1" kern="0" spc="-90" dirty="0">
              <a:solidFill>
                <a:srgbClr val="FFFFFF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 algn="ctr">
              <a:lnSpc>
                <a:spcPts val="4500"/>
              </a:lnSpc>
              <a:buNone/>
            </a:pPr>
            <a:r>
              <a:rPr lang="en-US" sz="4500" b="1" kern="0" spc="-90" dirty="0">
                <a:solidFill>
                  <a:srgbClr val="FFFF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Alzheimer's Disease Detection</a:t>
            </a:r>
            <a:endParaRPr lang="en-US" sz="45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4" name="Text 1"/>
          <p:cNvSpPr/>
          <p:nvPr/>
        </p:nvSpPr>
        <p:spPr>
          <a:xfrm>
            <a:off x="2890019" y="2493763"/>
            <a:ext cx="6504399" cy="6209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r>
              <a:rPr lang="en-US" sz="14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An end-to-end machine learning pipeline achieving </a:t>
            </a:r>
            <a:r>
              <a:rPr lang="en-US" sz="1400" b="1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95.12% accuracy</a:t>
            </a:r>
            <a:r>
              <a:rPr lang="en-US" sz="14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 using </a:t>
            </a:r>
            <a:r>
              <a:rPr lang="en-US" sz="1400" dirty="0" err="1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XGBoost</a:t>
            </a:r>
            <a:r>
              <a:rPr lang="en-US" sz="14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, integrated with cognitive assessment games for early diagnosis.</a:t>
            </a:r>
          </a:p>
          <a:p>
            <a:br>
              <a:rPr lang="en-US" dirty="0"/>
            </a:br>
            <a:endParaRPr lang="en-US" sz="36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5" name="Text 2"/>
          <p:cNvSpPr/>
          <p:nvPr/>
        </p:nvSpPr>
        <p:spPr>
          <a:xfrm>
            <a:off x="2374181" y="3829050"/>
            <a:ext cx="174932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Data Collection</a:t>
            </a:r>
            <a:endParaRPr lang="en-US" sz="15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6" name="Text 3"/>
          <p:cNvSpPr/>
          <p:nvPr/>
        </p:nvSpPr>
        <p:spPr>
          <a:xfrm>
            <a:off x="4508837" y="3829050"/>
            <a:ext cx="94190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Analysis</a:t>
            </a:r>
            <a:endParaRPr lang="en-US" sz="15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7" name="Text 4"/>
          <p:cNvSpPr/>
          <p:nvPr/>
        </p:nvSpPr>
        <p:spPr>
          <a:xfrm>
            <a:off x="5790352" y="3829050"/>
            <a:ext cx="229796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Model Development</a:t>
            </a:r>
            <a:endParaRPr lang="en-US" sz="15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8" name="Text 5"/>
          <p:cNvSpPr/>
          <p:nvPr/>
        </p:nvSpPr>
        <p:spPr>
          <a:xfrm>
            <a:off x="8389888" y="3829050"/>
            <a:ext cx="139838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Deployment</a:t>
            </a:r>
            <a:endParaRPr lang="en-US" sz="15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9" name="Text 6"/>
          <p:cNvSpPr/>
          <p:nvPr/>
        </p:nvSpPr>
        <p:spPr>
          <a:xfrm>
            <a:off x="3355509" y="4705350"/>
            <a:ext cx="548068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endParaRPr lang="en-US" sz="18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0" name="Text 7"/>
          <p:cNvSpPr/>
          <p:nvPr/>
        </p:nvSpPr>
        <p:spPr>
          <a:xfrm>
            <a:off x="9220349" y="6438900"/>
            <a:ext cx="329166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Machine Learning &amp; Healthcare Analytics</a:t>
            </a:r>
            <a:endParaRPr lang="en-US" sz="10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5B27698-27DB-B21A-ED93-24A6768E6669}"/>
              </a:ext>
            </a:extLst>
          </p:cNvPr>
          <p:cNvSpPr txBox="1"/>
          <p:nvPr/>
        </p:nvSpPr>
        <p:spPr>
          <a:xfrm>
            <a:off x="5450740" y="4972050"/>
            <a:ext cx="619348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Kokane Manoj Bhausaheb (</a:t>
            </a:r>
            <a:r>
              <a:rPr lang="en-US" sz="14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hlinkClick r:id="rId13"/>
              </a:rPr>
              <a:t>manojkokane@iisc.ac.in</a:t>
            </a:r>
            <a:r>
              <a:rPr lang="en-US" sz="14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)</a:t>
            </a:r>
          </a:p>
          <a:p>
            <a:r>
              <a:rPr lang="en-US" sz="14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Parth Bhatia (parthbhatia@iisc.ac.in)</a:t>
            </a:r>
          </a:p>
          <a:p>
            <a:r>
              <a:rPr lang="en-US" sz="14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Swapnil Trivedi (swapnilt@iisc.ac.in)</a:t>
            </a:r>
            <a:endParaRPr lang="en-IN" sz="1400" dirty="0">
              <a:solidFill>
                <a:schemeClr val="bg1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pic>
        <p:nvPicPr>
          <p:cNvPr id="22" name="Image 8" descr="preencoded.png">
            <a:extLst>
              <a:ext uri="{FF2B5EF4-FFF2-40B4-BE49-F238E27FC236}">
                <a16:creationId xmlns:a16="http://schemas.microsoft.com/office/drawing/2014/main" id="{3A972779-C31D-5503-BC00-0366333FCF5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03693" y="2212182"/>
            <a:ext cx="6877050" cy="9858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F1270-FFB8-3540-AAFB-8711F4872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4E33F213-C5C5-0D41-BDFD-B53B875390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83820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9E7200DF-B6F6-0055-225D-48A49562128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bg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81000" y="1145381"/>
            <a:ext cx="5410200" cy="1750219"/>
          </a:xfrm>
          <a:prstGeom prst="rect">
            <a:avLst/>
          </a:prstGeom>
        </p:spPr>
      </p:pic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238A4468-D0C5-8577-775F-C229CAE79D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447800"/>
            <a:ext cx="228600" cy="228600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44DA9B29-8679-3095-BFF0-BA26436CE9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3159919"/>
            <a:ext cx="5410200" cy="1943100"/>
          </a:xfrm>
          <a:prstGeom prst="rect">
            <a:avLst/>
          </a:prstGeom>
        </p:spPr>
      </p:pic>
      <p:pic>
        <p:nvPicPr>
          <p:cNvPr id="7" name="Image 5" descr="preencoded.png">
            <a:extLst>
              <a:ext uri="{FF2B5EF4-FFF2-40B4-BE49-F238E27FC236}">
                <a16:creationId xmlns:a16="http://schemas.microsoft.com/office/drawing/2014/main" id="{987497DF-2E61-D8A7-48B1-7E3427DC3C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3426619"/>
            <a:ext cx="228600" cy="228600"/>
          </a:xfrm>
          <a:prstGeom prst="rect">
            <a:avLst/>
          </a:prstGeom>
        </p:spPr>
      </p:pic>
      <p:pic>
        <p:nvPicPr>
          <p:cNvPr id="8" name="Image 6" descr="preencoded.png">
            <a:extLst>
              <a:ext uri="{FF2B5EF4-FFF2-40B4-BE49-F238E27FC236}">
                <a16:creationId xmlns:a16="http://schemas.microsoft.com/office/drawing/2014/main" id="{52237B1C-9046-3969-278A-C7EFCF90AE6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3883819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>
            <a:extLst>
              <a:ext uri="{FF2B5EF4-FFF2-40B4-BE49-F238E27FC236}">
                <a16:creationId xmlns:a16="http://schemas.microsoft.com/office/drawing/2014/main" id="{F5F5A39A-4015-FFBF-C088-5999752F805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4455319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>
            <a:extLst>
              <a:ext uri="{FF2B5EF4-FFF2-40B4-BE49-F238E27FC236}">
                <a16:creationId xmlns:a16="http://schemas.microsoft.com/office/drawing/2014/main" id="{E314CE74-9808-0E48-485F-DED80D78DAF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0" y="1219200"/>
            <a:ext cx="228600" cy="228600"/>
          </a:xfrm>
          <a:prstGeom prst="rect">
            <a:avLst/>
          </a:prstGeom>
        </p:spPr>
      </p:pic>
      <p:sp>
        <p:nvSpPr>
          <p:cNvPr id="11" name="Text 0">
            <a:extLst>
              <a:ext uri="{FF2B5EF4-FFF2-40B4-BE49-F238E27FC236}">
                <a16:creationId xmlns:a16="http://schemas.microsoft.com/office/drawing/2014/main" id="{3270E3E9-CC6B-7000-311E-109BB4AF0FF0}"/>
              </a:ext>
            </a:extLst>
          </p:cNvPr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E40A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Project Overview &amp; Goals</a:t>
            </a:r>
            <a:endParaRPr lang="en-US" sz="27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6CD233EF-79A6-40F7-CF66-DBDC73B82863}"/>
              </a:ext>
            </a:extLst>
          </p:cNvPr>
          <p:cNvSpPr/>
          <p:nvPr/>
        </p:nvSpPr>
        <p:spPr>
          <a:xfrm>
            <a:off x="952500" y="1409700"/>
            <a:ext cx="49530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D4ED8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Primary Goal</a:t>
            </a:r>
            <a:endParaRPr lang="en-US" sz="18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0BE3DFDD-E59D-9E4A-1736-4FE0C4A3D4AC}"/>
              </a:ext>
            </a:extLst>
          </p:cNvPr>
          <p:cNvSpPr/>
          <p:nvPr/>
        </p:nvSpPr>
        <p:spPr>
          <a:xfrm>
            <a:off x="609600" y="1866900"/>
            <a:ext cx="4953000" cy="83581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94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Develop an accurate machine learning system for the early detection of Alzheimer's Disease (AD) using clinical, demographic, and lifestyle data.</a:t>
            </a:r>
            <a:endParaRPr lang="en-US" sz="13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6DFD6D19-7DF9-50A8-6D20-397D006AE196}"/>
              </a:ext>
            </a:extLst>
          </p:cNvPr>
          <p:cNvSpPr/>
          <p:nvPr/>
        </p:nvSpPr>
        <p:spPr>
          <a:xfrm>
            <a:off x="952500" y="3388519"/>
            <a:ext cx="49530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D4ED8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Final Result</a:t>
            </a:r>
            <a:endParaRPr lang="en-US" sz="18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E4CA1FD1-2BEE-1566-2A58-BEA0621EBC4F}"/>
              </a:ext>
            </a:extLst>
          </p:cNvPr>
          <p:cNvSpPr/>
          <p:nvPr/>
        </p:nvSpPr>
        <p:spPr>
          <a:xfrm>
            <a:off x="838200" y="3845719"/>
            <a:ext cx="47244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Deployed system achieving </a:t>
            </a:r>
            <a:r>
              <a:rPr lang="en-US" sz="1200" b="1" dirty="0">
                <a:solidFill>
                  <a:srgbClr val="1D4ED8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95.12% Accuracy</a:t>
            </a:r>
            <a:r>
              <a:rPr lang="en-US" sz="1200" dirty="0">
                <a:solidFill>
                  <a:srgbClr val="37415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using XGBoost</a:t>
            </a: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1F7AF051-0F97-7901-DC4C-831673983FBA}"/>
              </a:ext>
            </a:extLst>
          </p:cNvPr>
          <p:cNvSpPr/>
          <p:nvPr/>
        </p:nvSpPr>
        <p:spPr>
          <a:xfrm>
            <a:off x="838200" y="4417219"/>
            <a:ext cx="47244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Interactive web application with integrated cognitive assessment games</a:t>
            </a: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1330C529-9699-45BB-1525-F2C45130E92B}"/>
              </a:ext>
            </a:extLst>
          </p:cNvPr>
          <p:cNvSpPr/>
          <p:nvPr/>
        </p:nvSpPr>
        <p:spPr>
          <a:xfrm>
            <a:off x="6743700" y="1181100"/>
            <a:ext cx="64922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D4ED8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Comprehensive Workflow</a:t>
            </a:r>
            <a:endParaRPr lang="en-US" sz="18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3CF4659B-5487-7B2F-86AF-CADC1885A02A}"/>
              </a:ext>
            </a:extLst>
          </p:cNvPr>
          <p:cNvSpPr/>
          <p:nvPr/>
        </p:nvSpPr>
        <p:spPr>
          <a:xfrm>
            <a:off x="6705600" y="1638300"/>
            <a:ext cx="5105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Data Collection</a:t>
            </a:r>
            <a:endParaRPr lang="en-US" sz="15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8BF2CB26-5C0C-E871-7E24-0883BDA3193D}"/>
              </a:ext>
            </a:extLst>
          </p:cNvPr>
          <p:cNvSpPr/>
          <p:nvPr/>
        </p:nvSpPr>
        <p:spPr>
          <a:xfrm>
            <a:off x="6705600" y="1943100"/>
            <a:ext cx="51054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Using existing  clinical, demographic, and lifestyle data from 2,150 patients</a:t>
            </a: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8BAC8CBA-A877-3693-A8AA-6DB6BE19CC1C}"/>
              </a:ext>
            </a:extLst>
          </p:cNvPr>
          <p:cNvSpPr/>
          <p:nvPr/>
        </p:nvSpPr>
        <p:spPr>
          <a:xfrm>
            <a:off x="6705600" y="2628900"/>
            <a:ext cx="61264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Exploratory Data Analysis</a:t>
            </a:r>
            <a:endParaRPr lang="en-US" sz="15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CF81D1C7-F90B-CFA5-79C5-28FCBA442C2D}"/>
              </a:ext>
            </a:extLst>
          </p:cNvPr>
          <p:cNvSpPr/>
          <p:nvPr/>
        </p:nvSpPr>
        <p:spPr>
          <a:xfrm>
            <a:off x="6705600" y="2933700"/>
            <a:ext cx="61264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Identifying key patterns and predictive features</a:t>
            </a: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2CB1AA7D-DFB5-567D-16BC-368A358A6807}"/>
              </a:ext>
            </a:extLst>
          </p:cNvPr>
          <p:cNvSpPr/>
          <p:nvPr/>
        </p:nvSpPr>
        <p:spPr>
          <a:xfrm>
            <a:off x="6705600" y="3390900"/>
            <a:ext cx="5105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Data Preprocessing</a:t>
            </a:r>
            <a:endParaRPr lang="en-US" sz="15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3" name="Text 12">
            <a:extLst>
              <a:ext uri="{FF2B5EF4-FFF2-40B4-BE49-F238E27FC236}">
                <a16:creationId xmlns:a16="http://schemas.microsoft.com/office/drawing/2014/main" id="{03155FD7-8A45-512E-D850-1F2B1940D998}"/>
              </a:ext>
            </a:extLst>
          </p:cNvPr>
          <p:cNvSpPr/>
          <p:nvPr/>
        </p:nvSpPr>
        <p:spPr>
          <a:xfrm>
            <a:off x="6705600" y="3695700"/>
            <a:ext cx="61264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Cleaning, standardization, and feature engineering</a:t>
            </a: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4" name="Text 13">
            <a:extLst>
              <a:ext uri="{FF2B5EF4-FFF2-40B4-BE49-F238E27FC236}">
                <a16:creationId xmlns:a16="http://schemas.microsoft.com/office/drawing/2014/main" id="{BCB3C36D-E8D7-0E42-D325-EDBE0F45DD88}"/>
              </a:ext>
            </a:extLst>
          </p:cNvPr>
          <p:cNvSpPr/>
          <p:nvPr/>
        </p:nvSpPr>
        <p:spPr>
          <a:xfrm>
            <a:off x="6705600" y="4152900"/>
            <a:ext cx="5105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Model Development</a:t>
            </a:r>
            <a:endParaRPr lang="en-US" sz="15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5" name="Text 14">
            <a:extLst>
              <a:ext uri="{FF2B5EF4-FFF2-40B4-BE49-F238E27FC236}">
                <a16:creationId xmlns:a16="http://schemas.microsoft.com/office/drawing/2014/main" id="{6D5F4F1E-C65E-D49C-69E0-AD78AF545856}"/>
              </a:ext>
            </a:extLst>
          </p:cNvPr>
          <p:cNvSpPr/>
          <p:nvPr/>
        </p:nvSpPr>
        <p:spPr>
          <a:xfrm>
            <a:off x="6705600" y="4457700"/>
            <a:ext cx="61264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Comparing multiple algorithms and selecting XGBoost</a:t>
            </a: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6" name="Text 15">
            <a:extLst>
              <a:ext uri="{FF2B5EF4-FFF2-40B4-BE49-F238E27FC236}">
                <a16:creationId xmlns:a16="http://schemas.microsoft.com/office/drawing/2014/main" id="{AD689A91-5F36-4FCD-FB8C-96D4B494B1CB}"/>
              </a:ext>
            </a:extLst>
          </p:cNvPr>
          <p:cNvSpPr/>
          <p:nvPr/>
        </p:nvSpPr>
        <p:spPr>
          <a:xfrm>
            <a:off x="6705600" y="4914900"/>
            <a:ext cx="5105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Deployment</a:t>
            </a:r>
            <a:endParaRPr lang="en-US" sz="15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7" name="Text 16">
            <a:extLst>
              <a:ext uri="{FF2B5EF4-FFF2-40B4-BE49-F238E27FC236}">
                <a16:creationId xmlns:a16="http://schemas.microsoft.com/office/drawing/2014/main" id="{7775599B-011F-CC11-11E1-BFE7EA97217D}"/>
              </a:ext>
            </a:extLst>
          </p:cNvPr>
          <p:cNvSpPr/>
          <p:nvPr/>
        </p:nvSpPr>
        <p:spPr>
          <a:xfrm>
            <a:off x="6705600" y="5219700"/>
            <a:ext cx="61264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Creating interactive web application with cognitive assessments</a:t>
            </a: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8" name="Text 17">
            <a:extLst>
              <a:ext uri="{FF2B5EF4-FFF2-40B4-BE49-F238E27FC236}">
                <a16:creationId xmlns:a16="http://schemas.microsoft.com/office/drawing/2014/main" id="{7A9CCB14-E6D9-3AE6-7328-FAC3786E4BBD}"/>
              </a:ext>
            </a:extLst>
          </p:cNvPr>
          <p:cNvSpPr/>
          <p:nvPr/>
        </p:nvSpPr>
        <p:spPr>
          <a:xfrm>
            <a:off x="381000" y="5676900"/>
            <a:ext cx="114300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2 / 10</a:t>
            </a:r>
            <a:endParaRPr lang="en-US" sz="10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pic>
        <p:nvPicPr>
          <p:cNvPr id="29" name="Image 2" descr="preencoded.png">
            <a:extLst>
              <a:ext uri="{FF2B5EF4-FFF2-40B4-BE49-F238E27FC236}">
                <a16:creationId xmlns:a16="http://schemas.microsoft.com/office/drawing/2014/main" id="{9D1A85AD-8DD3-787C-8F4E-690C3907E9F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bg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172200" y="990600"/>
            <a:ext cx="5410200" cy="468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591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0104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104900"/>
            <a:ext cx="5486400" cy="24003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371600"/>
            <a:ext cx="200025" cy="228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828800"/>
            <a:ext cx="190500" cy="152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2171700"/>
            <a:ext cx="1143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2514600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2857500"/>
            <a:ext cx="1905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1000" y="3733800"/>
            <a:ext cx="5486400" cy="24765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3400" y="4229100"/>
            <a:ext cx="1905000" cy="1905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76600" y="4552950"/>
            <a:ext cx="14734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76600" y="5086350"/>
            <a:ext cx="138261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24600" y="1104900"/>
            <a:ext cx="5486400" cy="5105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53200" y="1371600"/>
            <a:ext cx="171450" cy="228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53200" y="2171700"/>
            <a:ext cx="2457450" cy="7239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67500" y="2324100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124950" y="2171700"/>
            <a:ext cx="2457450" cy="7239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239250" y="2324100"/>
            <a:ext cx="17145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553200" y="3009900"/>
            <a:ext cx="2457450" cy="7239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667500" y="3162300"/>
            <a:ext cx="15240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124950" y="3009900"/>
            <a:ext cx="2457450" cy="7239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239250" y="3162300"/>
            <a:ext cx="17145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53200" y="3848100"/>
            <a:ext cx="2457450" cy="7239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667500" y="4000500"/>
            <a:ext cx="133350" cy="152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124950" y="3848100"/>
            <a:ext cx="2457450" cy="7239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239250" y="4000500"/>
            <a:ext cx="114300" cy="152400"/>
          </a:xfrm>
          <a:prstGeom prst="rect">
            <a:avLst/>
          </a:prstGeom>
        </p:spPr>
      </p:pic>
      <p:sp>
        <p:nvSpPr>
          <p:cNvPr id="28" name="Text 0"/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E40A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Data Collection &amp; Understanding</a:t>
            </a:r>
            <a:endParaRPr lang="en-US" sz="27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9" name="Text 1"/>
          <p:cNvSpPr/>
          <p:nvPr/>
        </p:nvSpPr>
        <p:spPr>
          <a:xfrm>
            <a:off x="923925" y="1333500"/>
            <a:ext cx="50292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D4ED8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Dataset Overview</a:t>
            </a:r>
            <a:endParaRPr lang="en-US" sz="18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0" name="Text 2"/>
          <p:cNvSpPr/>
          <p:nvPr/>
        </p:nvSpPr>
        <p:spPr>
          <a:xfrm>
            <a:off x="914400" y="1790700"/>
            <a:ext cx="252638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Size:</a:t>
            </a:r>
            <a:r>
              <a:rPr lang="en-US" sz="1200" dirty="0">
                <a:solidFill>
                  <a:srgbClr val="37415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2,150 unique patient records</a:t>
            </a: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1" name="Text 3"/>
          <p:cNvSpPr/>
          <p:nvPr/>
        </p:nvSpPr>
        <p:spPr>
          <a:xfrm>
            <a:off x="838200" y="2133600"/>
            <a:ext cx="277391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Features:</a:t>
            </a:r>
            <a:r>
              <a:rPr lang="en-US" sz="1200" dirty="0">
                <a:solidFill>
                  <a:srgbClr val="37415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32 features</a:t>
            </a: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2" name="Text 4"/>
          <p:cNvSpPr/>
          <p:nvPr/>
        </p:nvSpPr>
        <p:spPr>
          <a:xfrm>
            <a:off x="876300" y="2476500"/>
            <a:ext cx="405068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Quality:</a:t>
            </a:r>
            <a:r>
              <a:rPr lang="en-US" sz="1200" dirty="0">
                <a:solidFill>
                  <a:srgbClr val="37415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Zero missing values, no duplicates</a:t>
            </a: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3" name="Text 5"/>
          <p:cNvSpPr/>
          <p:nvPr/>
        </p:nvSpPr>
        <p:spPr>
          <a:xfrm>
            <a:off x="914400" y="2819400"/>
            <a:ext cx="47244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Class Distribution:</a:t>
            </a:r>
            <a:r>
              <a:rPr lang="en-US" sz="1200" dirty="0">
                <a:solidFill>
                  <a:srgbClr val="37415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65% Healthy (1,397) vs. 35% Alzheimer's (753)</a:t>
            </a: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4" name="Text 6"/>
          <p:cNvSpPr/>
          <p:nvPr/>
        </p:nvSpPr>
        <p:spPr>
          <a:xfrm>
            <a:off x="533400" y="3886200"/>
            <a:ext cx="62179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D4ED8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Target Class Distribution</a:t>
            </a:r>
            <a:endParaRPr lang="en-US" sz="15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5" name="Text 7"/>
          <p:cNvSpPr/>
          <p:nvPr/>
        </p:nvSpPr>
        <p:spPr>
          <a:xfrm>
            <a:off x="3500140" y="4400550"/>
            <a:ext cx="221486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Healthy: 65% (1,397 patients)</a:t>
            </a: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6" name="Text 8"/>
          <p:cNvSpPr/>
          <p:nvPr/>
        </p:nvSpPr>
        <p:spPr>
          <a:xfrm>
            <a:off x="3491061" y="4933950"/>
            <a:ext cx="2223939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Alzheimer's: 35% (753 patients)</a:t>
            </a: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7" name="Text 9"/>
          <p:cNvSpPr/>
          <p:nvPr/>
        </p:nvSpPr>
        <p:spPr>
          <a:xfrm>
            <a:off x="3276600" y="5505450"/>
            <a:ext cx="24384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Class ratio: 1.86:1 (Healthy:Alzheimer's)</a:t>
            </a:r>
            <a:endParaRPr lang="en-US" sz="10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8" name="Text 10"/>
          <p:cNvSpPr/>
          <p:nvPr/>
        </p:nvSpPr>
        <p:spPr>
          <a:xfrm>
            <a:off x="6838950" y="1333500"/>
            <a:ext cx="50292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D4ED8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Feature Set</a:t>
            </a:r>
            <a:endParaRPr lang="en-US" sz="18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9" name="Text 11"/>
          <p:cNvSpPr/>
          <p:nvPr/>
        </p:nvSpPr>
        <p:spPr>
          <a:xfrm>
            <a:off x="6553200" y="1790700"/>
            <a:ext cx="60350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Comprehensive clinical features including:</a:t>
            </a: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40" name="Text 12"/>
          <p:cNvSpPr/>
          <p:nvPr/>
        </p:nvSpPr>
        <p:spPr>
          <a:xfrm>
            <a:off x="6896100" y="2286000"/>
            <a:ext cx="147768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40A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Demographics</a:t>
            </a: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41" name="Text 13"/>
          <p:cNvSpPr/>
          <p:nvPr/>
        </p:nvSpPr>
        <p:spPr>
          <a:xfrm>
            <a:off x="6667500" y="2590800"/>
            <a:ext cx="26746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Age, gender, education level</a:t>
            </a:r>
            <a:endParaRPr lang="en-US" sz="10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42" name="Text 14"/>
          <p:cNvSpPr/>
          <p:nvPr/>
        </p:nvSpPr>
        <p:spPr>
          <a:xfrm>
            <a:off x="9486900" y="2286000"/>
            <a:ext cx="110263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40A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Vital Signs</a:t>
            </a: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43" name="Text 15"/>
          <p:cNvSpPr/>
          <p:nvPr/>
        </p:nvSpPr>
        <p:spPr>
          <a:xfrm>
            <a:off x="9239250" y="2590800"/>
            <a:ext cx="26746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Blood pressure, heart rate</a:t>
            </a:r>
            <a:endParaRPr lang="en-US" sz="10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44" name="Text 16"/>
          <p:cNvSpPr/>
          <p:nvPr/>
        </p:nvSpPr>
        <p:spPr>
          <a:xfrm>
            <a:off x="6896100" y="3124200"/>
            <a:ext cx="238279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40A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Cognitive Assessments</a:t>
            </a: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45" name="Text 17"/>
          <p:cNvSpPr/>
          <p:nvPr/>
        </p:nvSpPr>
        <p:spPr>
          <a:xfrm>
            <a:off x="6667500" y="3429000"/>
            <a:ext cx="26746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MMSE, Functional Assessment</a:t>
            </a:r>
            <a:endParaRPr lang="en-US" sz="10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46" name="Text 18"/>
          <p:cNvSpPr/>
          <p:nvPr/>
        </p:nvSpPr>
        <p:spPr>
          <a:xfrm>
            <a:off x="9486900" y="3124200"/>
            <a:ext cx="160484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40A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Medical History</a:t>
            </a: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47" name="Text 19"/>
          <p:cNvSpPr/>
          <p:nvPr/>
        </p:nvSpPr>
        <p:spPr>
          <a:xfrm>
            <a:off x="9239250" y="3429000"/>
            <a:ext cx="26746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Hypertension, diabetes</a:t>
            </a:r>
            <a:endParaRPr lang="en-US" sz="10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48" name="Text 20"/>
          <p:cNvSpPr/>
          <p:nvPr/>
        </p:nvSpPr>
        <p:spPr>
          <a:xfrm>
            <a:off x="6877050" y="3962400"/>
            <a:ext cx="17068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40A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Lifestyle Factors</a:t>
            </a: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49" name="Text 21"/>
          <p:cNvSpPr/>
          <p:nvPr/>
        </p:nvSpPr>
        <p:spPr>
          <a:xfrm>
            <a:off x="6667500" y="4267200"/>
            <a:ext cx="26746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Physical activity, sleep quality</a:t>
            </a:r>
            <a:endParaRPr lang="en-US" sz="10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50" name="Text 22"/>
          <p:cNvSpPr/>
          <p:nvPr/>
        </p:nvSpPr>
        <p:spPr>
          <a:xfrm>
            <a:off x="9429750" y="3962400"/>
            <a:ext cx="116246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40A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ADL Scores</a:t>
            </a: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51" name="Text 23"/>
          <p:cNvSpPr/>
          <p:nvPr/>
        </p:nvSpPr>
        <p:spPr>
          <a:xfrm>
            <a:off x="9239250" y="4267200"/>
            <a:ext cx="26746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Activities of daily living</a:t>
            </a:r>
            <a:endParaRPr lang="en-US" sz="10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52" name="Text 24"/>
          <p:cNvSpPr/>
          <p:nvPr/>
        </p:nvSpPr>
        <p:spPr>
          <a:xfrm>
            <a:off x="381000" y="6438900"/>
            <a:ext cx="114300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3 / 10</a:t>
            </a:r>
            <a:endParaRPr lang="en-US" sz="10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6E114-724A-2154-630B-10082D9F1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Image 0" descr="preencoded.png">
            <a:extLst>
              <a:ext uri="{FF2B5EF4-FFF2-40B4-BE49-F238E27FC236}">
                <a16:creationId xmlns:a16="http://schemas.microsoft.com/office/drawing/2014/main" id="{C4B8E09D-056B-9127-6362-C8E790274A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FF6F25D2-FFA1-AB7E-8102-0FAB81106B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1219200" cy="38100"/>
          </a:xfrm>
          <a:prstGeom prst="rect">
            <a:avLst/>
          </a:prstGeom>
        </p:spPr>
      </p:pic>
      <p:sp>
        <p:nvSpPr>
          <p:cNvPr id="23" name="Text 0">
            <a:extLst>
              <a:ext uri="{FF2B5EF4-FFF2-40B4-BE49-F238E27FC236}">
                <a16:creationId xmlns:a16="http://schemas.microsoft.com/office/drawing/2014/main" id="{B2482D44-1687-4D24-F510-EE280BBEA6D2}"/>
              </a:ext>
            </a:extLst>
          </p:cNvPr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E40A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Exploratory Data Analysis - Key Patterns</a:t>
            </a:r>
            <a:endParaRPr lang="en-US" sz="27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45" name="Text 22">
            <a:extLst>
              <a:ext uri="{FF2B5EF4-FFF2-40B4-BE49-F238E27FC236}">
                <a16:creationId xmlns:a16="http://schemas.microsoft.com/office/drawing/2014/main" id="{8F368592-A63F-B572-2173-F37C45050438}"/>
              </a:ext>
            </a:extLst>
          </p:cNvPr>
          <p:cNvSpPr/>
          <p:nvPr/>
        </p:nvSpPr>
        <p:spPr>
          <a:xfrm>
            <a:off x="381000" y="6172200"/>
            <a:ext cx="114300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 / 10</a:t>
            </a:r>
            <a:endParaRPr lang="en-US" sz="1050" dirty="0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2961A8D8-7232-6671-C83C-5FE84EF66D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427" y="1198235"/>
            <a:ext cx="5418396" cy="206884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14F406F1-BE39-5260-5610-37030EF721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0" y="1198236"/>
            <a:ext cx="5773287" cy="206884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3E29A53-9652-A101-7538-6E77661409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6427" y="3589011"/>
            <a:ext cx="11578110" cy="288798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407127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45415-B8D0-7582-CCBA-251E31411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Image 0" descr="preencoded.png">
            <a:extLst>
              <a:ext uri="{FF2B5EF4-FFF2-40B4-BE49-F238E27FC236}">
                <a16:creationId xmlns:a16="http://schemas.microsoft.com/office/drawing/2014/main" id="{8A95950F-34E2-D545-094E-3E07660FC5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2B779A25-31C1-20E1-B577-9B92B699FB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1219200" cy="38100"/>
          </a:xfrm>
          <a:prstGeom prst="rect">
            <a:avLst/>
          </a:prstGeom>
        </p:spPr>
      </p:pic>
      <p:sp>
        <p:nvSpPr>
          <p:cNvPr id="23" name="Text 0">
            <a:extLst>
              <a:ext uri="{FF2B5EF4-FFF2-40B4-BE49-F238E27FC236}">
                <a16:creationId xmlns:a16="http://schemas.microsoft.com/office/drawing/2014/main" id="{1CC4A2F5-D3AC-F515-DB8D-36FDCCC7D873}"/>
              </a:ext>
            </a:extLst>
          </p:cNvPr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E40A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Exploratory Data Analysis - Key Patterns</a:t>
            </a:r>
            <a:endParaRPr lang="en-US" sz="27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45" name="Text 22">
            <a:extLst>
              <a:ext uri="{FF2B5EF4-FFF2-40B4-BE49-F238E27FC236}">
                <a16:creationId xmlns:a16="http://schemas.microsoft.com/office/drawing/2014/main" id="{32578561-1301-DB5C-7F22-5A99AA390B55}"/>
              </a:ext>
            </a:extLst>
          </p:cNvPr>
          <p:cNvSpPr/>
          <p:nvPr/>
        </p:nvSpPr>
        <p:spPr>
          <a:xfrm>
            <a:off x="381000" y="6172200"/>
            <a:ext cx="114300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4 / 10</a:t>
            </a:r>
            <a:endParaRPr lang="en-US" sz="10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9EEA9F6E-1E92-4942-DE11-BED0A5E7A8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356" y="1257300"/>
            <a:ext cx="6794303" cy="44196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DBA3F982-8838-0A6D-C400-C442B12A75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76566" y="1264024"/>
            <a:ext cx="4487972" cy="441287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1447297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050" y="28575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104900"/>
            <a:ext cx="5486400" cy="16002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333500"/>
            <a:ext cx="285750" cy="228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314575"/>
            <a:ext cx="152400" cy="152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5577" y="2933700"/>
            <a:ext cx="5486400" cy="17145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3124200"/>
            <a:ext cx="228600" cy="2286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95625" y="3543300"/>
            <a:ext cx="12192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95625" y="3543300"/>
            <a:ext cx="1084957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13931" y="3886200"/>
            <a:ext cx="12192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13931" y="3886200"/>
            <a:ext cx="103629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845891" y="4229100"/>
            <a:ext cx="12192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845891" y="4229100"/>
            <a:ext cx="999679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24600" y="1143000"/>
            <a:ext cx="228600" cy="228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24600" y="1562100"/>
            <a:ext cx="5486400" cy="22860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15100" y="2133600"/>
            <a:ext cx="5105400" cy="15240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04776" y="4076700"/>
            <a:ext cx="5486400" cy="19050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62700" y="4732809"/>
            <a:ext cx="1524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76147" y="5348009"/>
            <a:ext cx="15240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62700" y="5000628"/>
            <a:ext cx="15240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62700" y="5638242"/>
            <a:ext cx="152400" cy="152400"/>
          </a:xfrm>
          <a:prstGeom prst="rect">
            <a:avLst/>
          </a:prstGeom>
        </p:spPr>
      </p:pic>
      <p:sp>
        <p:nvSpPr>
          <p:cNvPr id="23" name="Text 0"/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E40A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Exploratory Data Analysis - Key Patterns</a:t>
            </a:r>
            <a:endParaRPr lang="en-US" sz="27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4" name="Text 1"/>
          <p:cNvSpPr/>
          <p:nvPr/>
        </p:nvSpPr>
        <p:spPr>
          <a:xfrm>
            <a:off x="971550" y="1295400"/>
            <a:ext cx="51054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D4ED8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Age as Predictor</a:t>
            </a:r>
            <a:endParaRPr lang="en-US" sz="18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5" name="Text 2"/>
          <p:cNvSpPr/>
          <p:nvPr/>
        </p:nvSpPr>
        <p:spPr>
          <a:xfrm>
            <a:off x="436424" y="1714500"/>
            <a:ext cx="162091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Mean Age (AD)</a:t>
            </a:r>
            <a:endParaRPr lang="en-US" sz="10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6" name="Text 3"/>
          <p:cNvSpPr/>
          <p:nvPr/>
        </p:nvSpPr>
        <p:spPr>
          <a:xfrm>
            <a:off x="436424" y="1905000"/>
            <a:ext cx="1620917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D4ED8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81.2 years</a:t>
            </a:r>
            <a:endParaRPr lang="en-US" sz="18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7" name="Text 4"/>
          <p:cNvSpPr/>
          <p:nvPr/>
        </p:nvSpPr>
        <p:spPr>
          <a:xfrm>
            <a:off x="2933402" y="1771650"/>
            <a:ext cx="457914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dirty="0">
                <a:solidFill>
                  <a:srgbClr val="D1D5D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vs</a:t>
            </a:r>
            <a:endParaRPr lang="en-US" sz="27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8" name="Text 5"/>
          <p:cNvSpPr/>
          <p:nvPr/>
        </p:nvSpPr>
        <p:spPr>
          <a:xfrm>
            <a:off x="4191060" y="1714500"/>
            <a:ext cx="162091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Mean Age (Healthy)</a:t>
            </a:r>
            <a:endParaRPr lang="en-US" sz="10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9" name="Text 6"/>
          <p:cNvSpPr/>
          <p:nvPr/>
        </p:nvSpPr>
        <p:spPr>
          <a:xfrm>
            <a:off x="4191060" y="1905000"/>
            <a:ext cx="1620917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6A34A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72.1 years</a:t>
            </a:r>
            <a:endParaRPr lang="en-US" sz="18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0" name="Text 7"/>
          <p:cNvSpPr/>
          <p:nvPr/>
        </p:nvSpPr>
        <p:spPr>
          <a:xfrm>
            <a:off x="762000" y="2286000"/>
            <a:ext cx="5105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p&lt;0.001</a:t>
            </a: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1" name="Text 8"/>
          <p:cNvSpPr/>
          <p:nvPr/>
        </p:nvSpPr>
        <p:spPr>
          <a:xfrm>
            <a:off x="914400" y="3086100"/>
            <a:ext cx="51054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D4ED8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Symptom Clustering</a:t>
            </a:r>
            <a:endParaRPr lang="en-US" sz="18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2" name="Text 9"/>
          <p:cNvSpPr/>
          <p:nvPr/>
        </p:nvSpPr>
        <p:spPr>
          <a:xfrm>
            <a:off x="571500" y="3505200"/>
            <a:ext cx="183237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Memory Complaints</a:t>
            </a: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3" name="Text 10"/>
          <p:cNvSpPr/>
          <p:nvPr/>
        </p:nvSpPr>
        <p:spPr>
          <a:xfrm>
            <a:off x="5311973" y="3505200"/>
            <a:ext cx="43773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89%</a:t>
            </a: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4" name="Text 11"/>
          <p:cNvSpPr/>
          <p:nvPr/>
        </p:nvSpPr>
        <p:spPr>
          <a:xfrm>
            <a:off x="571500" y="3848100"/>
            <a:ext cx="187612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Behavioral Problems</a:t>
            </a: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5" name="Text 12"/>
          <p:cNvSpPr/>
          <p:nvPr/>
        </p:nvSpPr>
        <p:spPr>
          <a:xfrm>
            <a:off x="5312122" y="3848100"/>
            <a:ext cx="43773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85%</a:t>
            </a: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6" name="Text 13"/>
          <p:cNvSpPr/>
          <p:nvPr/>
        </p:nvSpPr>
        <p:spPr>
          <a:xfrm>
            <a:off x="571500" y="4191000"/>
            <a:ext cx="123301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Forgetfulness</a:t>
            </a: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7" name="Text 14"/>
          <p:cNvSpPr/>
          <p:nvPr/>
        </p:nvSpPr>
        <p:spPr>
          <a:xfrm>
            <a:off x="5311973" y="4191000"/>
            <a:ext cx="43773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82%</a:t>
            </a: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8" name="Text 15"/>
          <p:cNvSpPr/>
          <p:nvPr/>
        </p:nvSpPr>
        <p:spPr>
          <a:xfrm>
            <a:off x="6667500" y="1104900"/>
            <a:ext cx="65836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D4ED8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Cognitive Assessments</a:t>
            </a:r>
            <a:endParaRPr lang="en-US" sz="18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9" name="Text 16"/>
          <p:cNvSpPr/>
          <p:nvPr/>
        </p:nvSpPr>
        <p:spPr>
          <a:xfrm>
            <a:off x="6515100" y="1752600"/>
            <a:ext cx="5105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Strongest Correlations</a:t>
            </a:r>
            <a:endParaRPr lang="en-US" sz="15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40" name="Text 17"/>
          <p:cNvSpPr/>
          <p:nvPr/>
        </p:nvSpPr>
        <p:spPr>
          <a:xfrm>
            <a:off x="6362700" y="4304742"/>
            <a:ext cx="5105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Key Insights</a:t>
            </a:r>
            <a:endParaRPr lang="en-US" sz="15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41" name="Text 18"/>
          <p:cNvSpPr/>
          <p:nvPr/>
        </p:nvSpPr>
        <p:spPr>
          <a:xfrm>
            <a:off x="6591300" y="4732809"/>
            <a:ext cx="576179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Functional Assessment</a:t>
            </a:r>
            <a:r>
              <a:rPr lang="en-US" sz="1200" dirty="0">
                <a:solidFill>
                  <a:srgbClr val="37415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: Strongest single predictor (r=-0.72)</a:t>
            </a: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42" name="Text 19"/>
          <p:cNvSpPr/>
          <p:nvPr/>
        </p:nvSpPr>
        <p:spPr>
          <a:xfrm>
            <a:off x="6591300" y="4990542"/>
            <a:ext cx="457592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ADL Score</a:t>
            </a:r>
            <a:r>
              <a:rPr lang="en-US" sz="1200" dirty="0">
                <a:solidFill>
                  <a:srgbClr val="37415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: Strong negative correlation (r=-0.68)</a:t>
            </a: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43" name="Text 20"/>
          <p:cNvSpPr/>
          <p:nvPr/>
        </p:nvSpPr>
        <p:spPr>
          <a:xfrm>
            <a:off x="6591300" y="5295342"/>
            <a:ext cx="529512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MMSE Score</a:t>
            </a:r>
            <a:r>
              <a:rPr lang="en-US" sz="1200" dirty="0">
                <a:solidFill>
                  <a:srgbClr val="37415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: Mean 8.1 (AD) vs. 22.4 (Healthy) (r=-0.61)</a:t>
            </a: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44" name="Text 21"/>
          <p:cNvSpPr/>
          <p:nvPr/>
        </p:nvSpPr>
        <p:spPr>
          <a:xfrm>
            <a:off x="6591300" y="5600142"/>
            <a:ext cx="471541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Top 5 features account for </a:t>
            </a:r>
            <a:r>
              <a:rPr lang="en-US" sz="1200" b="1" dirty="0">
                <a:solidFill>
                  <a:srgbClr val="37415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66%</a:t>
            </a:r>
            <a:r>
              <a:rPr lang="en-US" sz="1200" dirty="0">
                <a:solidFill>
                  <a:srgbClr val="37415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of predictive power</a:t>
            </a: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45" name="Text 22"/>
          <p:cNvSpPr/>
          <p:nvPr/>
        </p:nvSpPr>
        <p:spPr>
          <a:xfrm>
            <a:off x="381000" y="6172200"/>
            <a:ext cx="114300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4 / 10</a:t>
            </a:r>
            <a:endParaRPr lang="en-US" sz="10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52C95F8B-D4ED-E9C6-058A-4C3261F613DF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528547" y="2048434"/>
            <a:ext cx="4939553" cy="16058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83820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085850"/>
            <a:ext cx="5600700" cy="1333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333500"/>
            <a:ext cx="228600" cy="228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752600"/>
            <a:ext cx="152400" cy="152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057400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2628900"/>
            <a:ext cx="5600700" cy="1333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2857500"/>
            <a:ext cx="285750" cy="2286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276600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581400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0300" y="1104900"/>
            <a:ext cx="5600700" cy="19431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0" y="2019300"/>
            <a:ext cx="5219700" cy="4572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0800" y="2657475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10300" y="3238500"/>
            <a:ext cx="5600700" cy="1981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00800" y="3467100"/>
            <a:ext cx="200025" cy="2286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00800" y="3848100"/>
            <a:ext cx="2609850" cy="8001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63050" y="3848100"/>
            <a:ext cx="2457450" cy="8001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00800" y="4829175"/>
            <a:ext cx="114300" cy="1524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E40A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Data Preprocessing &amp; Feature Engineering</a:t>
            </a:r>
            <a:endParaRPr lang="en-US" sz="27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1" name="Text 1"/>
          <p:cNvSpPr/>
          <p:nvPr/>
        </p:nvSpPr>
        <p:spPr>
          <a:xfrm>
            <a:off x="914400" y="1295400"/>
            <a:ext cx="52197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D4ED8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Train-Test Split</a:t>
            </a:r>
            <a:endParaRPr lang="en-US" sz="18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2" name="Text 2"/>
          <p:cNvSpPr/>
          <p:nvPr/>
        </p:nvSpPr>
        <p:spPr>
          <a:xfrm>
            <a:off x="800100" y="1714500"/>
            <a:ext cx="184862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80/20 stratified split</a:t>
            </a: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3" name="Text 3"/>
          <p:cNvSpPr/>
          <p:nvPr/>
        </p:nvSpPr>
        <p:spPr>
          <a:xfrm>
            <a:off x="800100" y="2019300"/>
            <a:ext cx="308002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Maintains 65:35 class distribution</a:t>
            </a: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4" name="Text 4"/>
          <p:cNvSpPr/>
          <p:nvPr/>
        </p:nvSpPr>
        <p:spPr>
          <a:xfrm>
            <a:off x="971550" y="2819400"/>
            <a:ext cx="62636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D4ED8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Addressing Class Imbalance</a:t>
            </a:r>
            <a:endParaRPr lang="en-US" sz="18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5" name="Text 5"/>
          <p:cNvSpPr/>
          <p:nvPr/>
        </p:nvSpPr>
        <p:spPr>
          <a:xfrm>
            <a:off x="800100" y="3238500"/>
            <a:ext cx="440840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Stratified sampling preferred over oversampling</a:t>
            </a: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6" name="Text 6"/>
          <p:cNvSpPr/>
          <p:nvPr/>
        </p:nvSpPr>
        <p:spPr>
          <a:xfrm>
            <a:off x="800100" y="3543300"/>
            <a:ext cx="364652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753 positive samples deemed sufficient</a:t>
            </a: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7" name="Text 7"/>
          <p:cNvSpPr/>
          <p:nvPr/>
        </p:nvSpPr>
        <p:spPr>
          <a:xfrm>
            <a:off x="6515100" y="1295400"/>
            <a:ext cx="52197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D4ED8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Standardization</a:t>
            </a:r>
            <a:endParaRPr lang="en-US" sz="18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8" name="Text 8"/>
          <p:cNvSpPr/>
          <p:nvPr/>
        </p:nvSpPr>
        <p:spPr>
          <a:xfrm>
            <a:off x="6400800" y="1714500"/>
            <a:ext cx="62636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StandardScaler applied to all 32 features:</a:t>
            </a: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9" name="Text 9"/>
          <p:cNvSpPr/>
          <p:nvPr/>
        </p:nvSpPr>
        <p:spPr>
          <a:xfrm>
            <a:off x="6515100" y="2133600"/>
            <a:ext cx="49911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40A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z = (x - μ) / σ</a:t>
            </a: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0" name="Text 10"/>
          <p:cNvSpPr/>
          <p:nvPr/>
        </p:nvSpPr>
        <p:spPr>
          <a:xfrm>
            <a:off x="6629400" y="2628900"/>
            <a:ext cx="62636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Critical for Neural Network training</a:t>
            </a: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1" name="Text 11"/>
          <p:cNvSpPr/>
          <p:nvPr/>
        </p:nvSpPr>
        <p:spPr>
          <a:xfrm>
            <a:off x="6715125" y="3429000"/>
            <a:ext cx="52197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D4ED8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Feature Engineering</a:t>
            </a:r>
            <a:endParaRPr lang="en-US" sz="18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2" name="Text 12"/>
          <p:cNvSpPr/>
          <p:nvPr/>
        </p:nvSpPr>
        <p:spPr>
          <a:xfrm>
            <a:off x="6276975" y="3962400"/>
            <a:ext cx="28575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40A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Features Retained</a:t>
            </a: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3" name="Text 13"/>
          <p:cNvSpPr/>
          <p:nvPr/>
        </p:nvSpPr>
        <p:spPr>
          <a:xfrm>
            <a:off x="6515100" y="4191000"/>
            <a:ext cx="238125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2563E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32</a:t>
            </a:r>
            <a:endParaRPr lang="en-US" sz="22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4" name="Text 14"/>
          <p:cNvSpPr/>
          <p:nvPr/>
        </p:nvSpPr>
        <p:spPr>
          <a:xfrm>
            <a:off x="9054465" y="3962400"/>
            <a:ext cx="26746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66534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Engineering Required</a:t>
            </a: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5" name="Text 15"/>
          <p:cNvSpPr/>
          <p:nvPr/>
        </p:nvSpPr>
        <p:spPr>
          <a:xfrm>
            <a:off x="9277350" y="4191000"/>
            <a:ext cx="222885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6A34A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None</a:t>
            </a:r>
            <a:endParaRPr lang="en-US" sz="22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6" name="Text 16"/>
          <p:cNvSpPr/>
          <p:nvPr/>
        </p:nvSpPr>
        <p:spPr>
          <a:xfrm>
            <a:off x="6591300" y="4800600"/>
            <a:ext cx="62636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Raw features already clinically meaningful and well-distributed</a:t>
            </a: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7" name="Text 17"/>
          <p:cNvSpPr/>
          <p:nvPr/>
        </p:nvSpPr>
        <p:spPr>
          <a:xfrm>
            <a:off x="381000" y="5372100"/>
            <a:ext cx="114300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5 / 10</a:t>
            </a:r>
            <a:endParaRPr lang="en-US" sz="10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7D1A8-17F7-93BB-003D-F06D4E3BF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A2FAE490-DB21-A37A-58D8-7A6D99A02E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838200"/>
            <a:ext cx="1219200" cy="38100"/>
          </a:xfrm>
          <a:prstGeom prst="rect">
            <a:avLst/>
          </a:prstGeom>
        </p:spPr>
      </p:pic>
      <p:sp>
        <p:nvSpPr>
          <p:cNvPr id="18" name="Text 0">
            <a:extLst>
              <a:ext uri="{FF2B5EF4-FFF2-40B4-BE49-F238E27FC236}">
                <a16:creationId xmlns:a16="http://schemas.microsoft.com/office/drawing/2014/main" id="{B780E893-861D-0989-ACEB-43BF5588B965}"/>
              </a:ext>
            </a:extLst>
          </p:cNvPr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E40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Model Development &amp; Comparison</a:t>
            </a:r>
            <a:endParaRPr lang="en-US" sz="2700" dirty="0"/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FF621B6D-1C54-F87F-8B0E-D3A217DF5A7A}"/>
              </a:ext>
            </a:extLst>
          </p:cNvPr>
          <p:cNvSpPr/>
          <p:nvPr/>
        </p:nvSpPr>
        <p:spPr>
          <a:xfrm>
            <a:off x="381000" y="1104900"/>
            <a:ext cx="13716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endParaRPr lang="en-US" sz="1350" dirty="0"/>
          </a:p>
        </p:txBody>
      </p:sp>
      <p:sp>
        <p:nvSpPr>
          <p:cNvPr id="42" name="Text 24">
            <a:extLst>
              <a:ext uri="{FF2B5EF4-FFF2-40B4-BE49-F238E27FC236}">
                <a16:creationId xmlns:a16="http://schemas.microsoft.com/office/drawing/2014/main" id="{0F429BF4-706B-22EF-DB5E-69E172D6B485}"/>
              </a:ext>
            </a:extLst>
          </p:cNvPr>
          <p:cNvSpPr/>
          <p:nvPr/>
        </p:nvSpPr>
        <p:spPr>
          <a:xfrm>
            <a:off x="381000" y="6248400"/>
            <a:ext cx="114300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6 / 10</a:t>
            </a:r>
            <a:endParaRPr lang="en-US" sz="10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D0C3E9F-731D-9E9C-CAF8-66C4F3CCEE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977" y="876300"/>
            <a:ext cx="11278045" cy="5697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2032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DB6F3-58BA-D09D-0C07-27FC021CA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974EF5AF-B63A-FB66-191C-DA87AE9D67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838200"/>
            <a:ext cx="1219200" cy="38100"/>
          </a:xfrm>
          <a:prstGeom prst="rect">
            <a:avLst/>
          </a:prstGeom>
        </p:spPr>
      </p:pic>
      <p:sp>
        <p:nvSpPr>
          <p:cNvPr id="18" name="Text 0">
            <a:extLst>
              <a:ext uri="{FF2B5EF4-FFF2-40B4-BE49-F238E27FC236}">
                <a16:creationId xmlns:a16="http://schemas.microsoft.com/office/drawing/2014/main" id="{116789DD-1E42-D7A7-65B8-189C96D021E2}"/>
              </a:ext>
            </a:extLst>
          </p:cNvPr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E40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Model Development &amp; Comparison</a:t>
            </a:r>
            <a:endParaRPr lang="en-US" sz="2700" dirty="0"/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D51ACA5E-7E56-357E-99F1-48A7A264AC61}"/>
              </a:ext>
            </a:extLst>
          </p:cNvPr>
          <p:cNvSpPr/>
          <p:nvPr/>
        </p:nvSpPr>
        <p:spPr>
          <a:xfrm>
            <a:off x="381000" y="1104900"/>
            <a:ext cx="13716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endParaRPr lang="en-US" sz="1350" dirty="0"/>
          </a:p>
        </p:txBody>
      </p:sp>
      <p:sp>
        <p:nvSpPr>
          <p:cNvPr id="42" name="Text 24">
            <a:extLst>
              <a:ext uri="{FF2B5EF4-FFF2-40B4-BE49-F238E27FC236}">
                <a16:creationId xmlns:a16="http://schemas.microsoft.com/office/drawing/2014/main" id="{29F029CB-6FE7-0ACD-1864-7D71340ABCC8}"/>
              </a:ext>
            </a:extLst>
          </p:cNvPr>
          <p:cNvSpPr/>
          <p:nvPr/>
        </p:nvSpPr>
        <p:spPr>
          <a:xfrm>
            <a:off x="381000" y="6248400"/>
            <a:ext cx="114300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6 / 10</a:t>
            </a:r>
            <a:endParaRPr lang="en-US" sz="105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FE0D1C-FDA2-1534-3D38-C4C603116B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724" y="876300"/>
            <a:ext cx="10823622" cy="5778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201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E2EDD-5E2E-C180-F2E7-3D8600E4F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F8220942-A8A2-6FC2-F3A1-6BF512C40C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838200"/>
            <a:ext cx="1219200" cy="38100"/>
          </a:xfrm>
          <a:prstGeom prst="rect">
            <a:avLst/>
          </a:prstGeom>
        </p:spPr>
      </p:pic>
      <p:sp>
        <p:nvSpPr>
          <p:cNvPr id="18" name="Text 0">
            <a:extLst>
              <a:ext uri="{FF2B5EF4-FFF2-40B4-BE49-F238E27FC236}">
                <a16:creationId xmlns:a16="http://schemas.microsoft.com/office/drawing/2014/main" id="{51FE6FD3-BA41-EC98-E17F-A761D14FCD96}"/>
              </a:ext>
            </a:extLst>
          </p:cNvPr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E40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Model Development &amp; Comparison</a:t>
            </a:r>
            <a:endParaRPr lang="en-US" sz="2700" dirty="0"/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3DD99A51-B3C2-E211-94E3-4FDBD6BFED7A}"/>
              </a:ext>
            </a:extLst>
          </p:cNvPr>
          <p:cNvSpPr/>
          <p:nvPr/>
        </p:nvSpPr>
        <p:spPr>
          <a:xfrm>
            <a:off x="381000" y="1104900"/>
            <a:ext cx="13716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endParaRPr lang="en-US" sz="1350" dirty="0"/>
          </a:p>
        </p:txBody>
      </p:sp>
      <p:sp>
        <p:nvSpPr>
          <p:cNvPr id="42" name="Text 24">
            <a:extLst>
              <a:ext uri="{FF2B5EF4-FFF2-40B4-BE49-F238E27FC236}">
                <a16:creationId xmlns:a16="http://schemas.microsoft.com/office/drawing/2014/main" id="{33D58716-869D-2672-5D8A-285FE6EFBBE2}"/>
              </a:ext>
            </a:extLst>
          </p:cNvPr>
          <p:cNvSpPr/>
          <p:nvPr/>
        </p:nvSpPr>
        <p:spPr>
          <a:xfrm>
            <a:off x="381000" y="6248400"/>
            <a:ext cx="114300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6 / 10</a:t>
            </a:r>
            <a:endParaRPr lang="en-US" sz="10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1F5787-31C0-E3BC-81DD-D679CA9A77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952500"/>
            <a:ext cx="10451194" cy="5685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7924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BCEFE-1668-BB45-53FF-425B22EA5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AA129675-2648-72CB-7BEA-B7BF7BD9F5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838200"/>
            <a:ext cx="1219200" cy="38100"/>
          </a:xfrm>
          <a:prstGeom prst="rect">
            <a:avLst/>
          </a:prstGeom>
        </p:spPr>
      </p:pic>
      <p:sp>
        <p:nvSpPr>
          <p:cNvPr id="18" name="Text 0">
            <a:extLst>
              <a:ext uri="{FF2B5EF4-FFF2-40B4-BE49-F238E27FC236}">
                <a16:creationId xmlns:a16="http://schemas.microsoft.com/office/drawing/2014/main" id="{65FCA730-D700-17F6-1C6D-5BBD944BBACC}"/>
              </a:ext>
            </a:extLst>
          </p:cNvPr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E40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Model Development &amp; Comparison</a:t>
            </a:r>
            <a:endParaRPr lang="en-US" sz="2700" dirty="0"/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4EE225A7-EBB4-11F0-B0F9-DAA6163B080E}"/>
              </a:ext>
            </a:extLst>
          </p:cNvPr>
          <p:cNvSpPr/>
          <p:nvPr/>
        </p:nvSpPr>
        <p:spPr>
          <a:xfrm>
            <a:off x="381000" y="1104900"/>
            <a:ext cx="13716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endParaRPr lang="en-US" sz="1350" dirty="0"/>
          </a:p>
        </p:txBody>
      </p:sp>
      <p:sp>
        <p:nvSpPr>
          <p:cNvPr id="42" name="Text 24">
            <a:extLst>
              <a:ext uri="{FF2B5EF4-FFF2-40B4-BE49-F238E27FC236}">
                <a16:creationId xmlns:a16="http://schemas.microsoft.com/office/drawing/2014/main" id="{B3C98A78-B5AF-5E51-2166-D2863FC72404}"/>
              </a:ext>
            </a:extLst>
          </p:cNvPr>
          <p:cNvSpPr/>
          <p:nvPr/>
        </p:nvSpPr>
        <p:spPr>
          <a:xfrm>
            <a:off x="381000" y="6248400"/>
            <a:ext cx="114300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6 / 10</a:t>
            </a:r>
            <a:endParaRPr lang="en-US" sz="10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A03941-F788-58A5-749A-44C4129B85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952500"/>
            <a:ext cx="10451194" cy="5685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4455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CDB47-BF80-712B-0D1A-4322B0C4F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59618B8F-8F74-5134-1995-8BCA01BEF2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838200"/>
            <a:ext cx="1219200" cy="38100"/>
          </a:xfrm>
          <a:prstGeom prst="rect">
            <a:avLst/>
          </a:prstGeom>
        </p:spPr>
      </p:pic>
      <p:sp>
        <p:nvSpPr>
          <p:cNvPr id="18" name="Text 0">
            <a:extLst>
              <a:ext uri="{FF2B5EF4-FFF2-40B4-BE49-F238E27FC236}">
                <a16:creationId xmlns:a16="http://schemas.microsoft.com/office/drawing/2014/main" id="{DC60A501-CECC-820E-5461-49CE3796CBA8}"/>
              </a:ext>
            </a:extLst>
          </p:cNvPr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E40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Model Development &amp; Comparison</a:t>
            </a:r>
            <a:endParaRPr lang="en-US" sz="2700" dirty="0"/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1017C4F1-BFF0-293E-46EA-488B495FA396}"/>
              </a:ext>
            </a:extLst>
          </p:cNvPr>
          <p:cNvSpPr/>
          <p:nvPr/>
        </p:nvSpPr>
        <p:spPr>
          <a:xfrm>
            <a:off x="381000" y="1104900"/>
            <a:ext cx="13716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endParaRPr lang="en-US" sz="1350" dirty="0"/>
          </a:p>
        </p:txBody>
      </p:sp>
      <p:sp>
        <p:nvSpPr>
          <p:cNvPr id="42" name="Text 24">
            <a:extLst>
              <a:ext uri="{FF2B5EF4-FFF2-40B4-BE49-F238E27FC236}">
                <a16:creationId xmlns:a16="http://schemas.microsoft.com/office/drawing/2014/main" id="{0C5F82D8-788B-0A0B-5AA9-4241850F64A1}"/>
              </a:ext>
            </a:extLst>
          </p:cNvPr>
          <p:cNvSpPr/>
          <p:nvPr/>
        </p:nvSpPr>
        <p:spPr>
          <a:xfrm>
            <a:off x="381000" y="6248400"/>
            <a:ext cx="114300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6 / 10</a:t>
            </a:r>
            <a:endParaRPr lang="en-US" sz="105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0C6989-1110-7CE4-92CD-CC3A52B43B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104899"/>
            <a:ext cx="10534650" cy="5284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7445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83820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143000"/>
            <a:ext cx="228600" cy="228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2019300"/>
            <a:ext cx="5715000" cy="23812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4629150"/>
            <a:ext cx="6629400" cy="762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4857750"/>
            <a:ext cx="171450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67600" y="1143000"/>
            <a:ext cx="257175" cy="2286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67600" y="1562100"/>
            <a:ext cx="4343400" cy="13335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0" y="1762125"/>
            <a:ext cx="171450" cy="1714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67600" y="3048000"/>
            <a:ext cx="4343400" cy="13335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20000" y="3248025"/>
            <a:ext cx="190500" cy="1714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67600" y="4533900"/>
            <a:ext cx="4343400" cy="13335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20000" y="4733925"/>
            <a:ext cx="171450" cy="171450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E40A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Feature Importance &amp; Clinical Insights</a:t>
            </a:r>
            <a:endParaRPr lang="en-US" sz="27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6" name="Text 1"/>
          <p:cNvSpPr/>
          <p:nvPr/>
        </p:nvSpPr>
        <p:spPr>
          <a:xfrm>
            <a:off x="723900" y="1104900"/>
            <a:ext cx="66294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D4ED8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Top 5 Critical Features</a:t>
            </a:r>
            <a:endParaRPr lang="en-US" sz="18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7" name="Text 2"/>
          <p:cNvSpPr/>
          <p:nvPr/>
        </p:nvSpPr>
        <p:spPr>
          <a:xfrm>
            <a:off x="381000" y="1562100"/>
            <a:ext cx="79552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These features account for </a:t>
            </a:r>
            <a:r>
              <a:rPr lang="en-US" sz="1200" b="1" dirty="0">
                <a:solidFill>
                  <a:srgbClr val="1D4ED8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66.3%</a:t>
            </a:r>
            <a:r>
              <a:rPr lang="en-US" sz="1200" dirty="0">
                <a:solidFill>
                  <a:srgbClr val="37415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of the predictive power</a:t>
            </a: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8" name="Text 3"/>
          <p:cNvSpPr/>
          <p:nvPr/>
        </p:nvSpPr>
        <p:spPr>
          <a:xfrm>
            <a:off x="819150" y="4781550"/>
            <a:ext cx="60388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Key Insight:</a:t>
            </a:r>
            <a:r>
              <a:rPr lang="en-US" sz="1200" dirty="0">
                <a:solidFill>
                  <a:srgbClr val="37415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Functional Assessment and Memory Complaints are the strongest indicators, aligning with established medical knowledge</a:t>
            </a: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9" name="Text 4"/>
          <p:cNvSpPr/>
          <p:nvPr/>
        </p:nvSpPr>
        <p:spPr>
          <a:xfrm>
            <a:off x="7839075" y="1104900"/>
            <a:ext cx="52120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D4ED8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Clinical Insights</a:t>
            </a:r>
            <a:endParaRPr lang="en-US" sz="18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0" name="Text 5"/>
          <p:cNvSpPr/>
          <p:nvPr/>
        </p:nvSpPr>
        <p:spPr>
          <a:xfrm>
            <a:off x="7867650" y="1714500"/>
            <a:ext cx="4038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563E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Cognitive Markers</a:t>
            </a:r>
            <a:endParaRPr lang="en-US" sz="13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1" name="Text 6"/>
          <p:cNvSpPr/>
          <p:nvPr/>
        </p:nvSpPr>
        <p:spPr>
          <a:xfrm>
            <a:off x="7620000" y="2057400"/>
            <a:ext cx="40386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Functional Assessment (17.45%) and Memory Complaints (16.55%) are the strongest predictors, consistent with established medical knowledge</a:t>
            </a: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2" name="Text 7"/>
          <p:cNvSpPr/>
          <p:nvPr/>
        </p:nvSpPr>
        <p:spPr>
          <a:xfrm>
            <a:off x="7886700" y="3200400"/>
            <a:ext cx="4038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563E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Lifestyle Factors</a:t>
            </a:r>
            <a:endParaRPr lang="en-US" sz="13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3" name="Text 8"/>
          <p:cNvSpPr/>
          <p:nvPr/>
        </p:nvSpPr>
        <p:spPr>
          <a:xfrm>
            <a:off x="7620000" y="3543300"/>
            <a:ext cx="40386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PhysicalActivity (1.64%), SleepQuality (1.40%), and DietQuality (1.23%) provide actionable prevention recommendations</a:t>
            </a: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4" name="Text 9"/>
          <p:cNvSpPr/>
          <p:nvPr/>
        </p:nvSpPr>
        <p:spPr>
          <a:xfrm>
            <a:off x="7867650" y="4686300"/>
            <a:ext cx="4038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563E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Medical History</a:t>
            </a:r>
            <a:endParaRPr lang="en-US" sz="13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5" name="Text 10"/>
          <p:cNvSpPr/>
          <p:nvPr/>
        </p:nvSpPr>
        <p:spPr>
          <a:xfrm>
            <a:off x="7620000" y="5029200"/>
            <a:ext cx="40386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Hypertension (2.48%) leads among medical history factors, supporting the vascular dementia hypothesis</a:t>
            </a: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6" name="Text 11"/>
          <p:cNvSpPr/>
          <p:nvPr/>
        </p:nvSpPr>
        <p:spPr>
          <a:xfrm>
            <a:off x="381000" y="6019800"/>
            <a:ext cx="114300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7 / 10</a:t>
            </a:r>
            <a:endParaRPr lang="en-US" sz="10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83820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066800"/>
            <a:ext cx="228600" cy="228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447800"/>
            <a:ext cx="5600700" cy="23050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1943100"/>
            <a:ext cx="190500" cy="190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2219325"/>
            <a:ext cx="190500" cy="1905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2495550"/>
            <a:ext cx="190500" cy="190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2771775"/>
            <a:ext cx="190500" cy="1905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3048000"/>
            <a:ext cx="190500" cy="1905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3324225"/>
            <a:ext cx="190500" cy="1905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0300" y="1066800"/>
            <a:ext cx="257175" cy="228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0300" y="1447800"/>
            <a:ext cx="2743200" cy="38481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24600" y="1562100"/>
            <a:ext cx="190500" cy="2667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300" y="5491162"/>
            <a:ext cx="2743200" cy="82391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5605463"/>
            <a:ext cx="238125" cy="2667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71900" y="5514975"/>
            <a:ext cx="2743200" cy="91440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4096" y="4339478"/>
            <a:ext cx="5600700" cy="9144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18075" y="4057650"/>
            <a:ext cx="5715000" cy="3429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19100" y="4533900"/>
            <a:ext cx="152400" cy="13335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350395" y="4533900"/>
            <a:ext cx="133350" cy="13335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19100" y="4762500"/>
            <a:ext cx="114300" cy="13335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680496" y="4762500"/>
            <a:ext cx="133350" cy="133350"/>
          </a:xfrm>
          <a:prstGeom prst="rect">
            <a:avLst/>
          </a:prstGeom>
        </p:spPr>
      </p:pic>
      <p:sp>
        <p:nvSpPr>
          <p:cNvPr id="29" name="Text 0"/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E40A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Deployment &amp; Application Development</a:t>
            </a:r>
            <a:endParaRPr lang="en-US" sz="27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0" name="Text 1"/>
          <p:cNvSpPr/>
          <p:nvPr/>
        </p:nvSpPr>
        <p:spPr>
          <a:xfrm>
            <a:off x="723900" y="1028700"/>
            <a:ext cx="67208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D4ED8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Production-Ready Inference Pipeline</a:t>
            </a:r>
            <a:endParaRPr lang="en-US" sz="18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1" name="Text 2"/>
          <p:cNvSpPr/>
          <p:nvPr/>
        </p:nvSpPr>
        <p:spPr>
          <a:xfrm>
            <a:off x="533400" y="1600200"/>
            <a:ext cx="52959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6-Stage Architecture</a:t>
            </a:r>
            <a:endParaRPr lang="en-US" sz="15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2" name="Text 3"/>
          <p:cNvSpPr/>
          <p:nvPr/>
        </p:nvSpPr>
        <p:spPr>
          <a:xfrm>
            <a:off x="588764" y="1962150"/>
            <a:ext cx="95548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1</a:t>
            </a:r>
            <a:endParaRPr lang="en-US" sz="9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3" name="Text 4"/>
          <p:cNvSpPr/>
          <p:nvPr/>
        </p:nvSpPr>
        <p:spPr>
          <a:xfrm>
            <a:off x="762000" y="1943100"/>
            <a:ext cx="480720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Validation</a:t>
            </a:r>
            <a:r>
              <a:rPr lang="en-US" sz="1200" dirty="0">
                <a:solidFill>
                  <a:srgbClr val="37415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- Input checks and data type verification</a:t>
            </a: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4" name="Text 5"/>
          <p:cNvSpPr/>
          <p:nvPr/>
        </p:nvSpPr>
        <p:spPr>
          <a:xfrm>
            <a:off x="588764" y="2238375"/>
            <a:ext cx="95548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2</a:t>
            </a:r>
            <a:endParaRPr lang="en-US" sz="9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5" name="Text 6"/>
          <p:cNvSpPr/>
          <p:nvPr/>
        </p:nvSpPr>
        <p:spPr>
          <a:xfrm>
            <a:off x="762000" y="2219325"/>
            <a:ext cx="528441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Preprocessing</a:t>
            </a:r>
            <a:r>
              <a:rPr lang="en-US" sz="1200" dirty="0">
                <a:solidFill>
                  <a:srgbClr val="37415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- Standardization using training statistics</a:t>
            </a: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6" name="Text 7"/>
          <p:cNvSpPr/>
          <p:nvPr/>
        </p:nvSpPr>
        <p:spPr>
          <a:xfrm>
            <a:off x="588764" y="2514600"/>
            <a:ext cx="95548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3</a:t>
            </a:r>
            <a:endParaRPr lang="en-US" sz="9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7" name="Text 8"/>
          <p:cNvSpPr/>
          <p:nvPr/>
        </p:nvSpPr>
        <p:spPr>
          <a:xfrm>
            <a:off x="762000" y="2495550"/>
            <a:ext cx="395174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Model Prediction</a:t>
            </a:r>
            <a:r>
              <a:rPr lang="en-US" sz="1200" dirty="0">
                <a:solidFill>
                  <a:srgbClr val="37415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- XGBoost classification</a:t>
            </a: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8" name="Text 9"/>
          <p:cNvSpPr/>
          <p:nvPr/>
        </p:nvSpPr>
        <p:spPr>
          <a:xfrm>
            <a:off x="588764" y="2790825"/>
            <a:ext cx="95548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4</a:t>
            </a:r>
            <a:endParaRPr lang="en-US" sz="9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9" name="Text 10"/>
          <p:cNvSpPr/>
          <p:nvPr/>
        </p:nvSpPr>
        <p:spPr>
          <a:xfrm>
            <a:off x="762000" y="2771775"/>
            <a:ext cx="545139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Confidence Scoring</a:t>
            </a:r>
            <a:r>
              <a:rPr lang="en-US" sz="1200" dirty="0">
                <a:solidFill>
                  <a:srgbClr val="37415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- High/Medium/Low confidence levels</a:t>
            </a: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40" name="Text 11"/>
          <p:cNvSpPr/>
          <p:nvPr/>
        </p:nvSpPr>
        <p:spPr>
          <a:xfrm>
            <a:off x="588764" y="3067050"/>
            <a:ext cx="95548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5</a:t>
            </a:r>
            <a:endParaRPr lang="en-US" sz="9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41" name="Text 12"/>
          <p:cNvSpPr/>
          <p:nvPr/>
        </p:nvSpPr>
        <p:spPr>
          <a:xfrm>
            <a:off x="762000" y="3048000"/>
            <a:ext cx="443716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Risk Stratification</a:t>
            </a:r>
            <a:r>
              <a:rPr lang="en-US" sz="1200" dirty="0">
                <a:solidFill>
                  <a:srgbClr val="37415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- Clinical risk level mapping</a:t>
            </a: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42" name="Text 13"/>
          <p:cNvSpPr/>
          <p:nvPr/>
        </p:nvSpPr>
        <p:spPr>
          <a:xfrm>
            <a:off x="588764" y="3343275"/>
            <a:ext cx="95548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6</a:t>
            </a:r>
            <a:endParaRPr lang="en-US" sz="9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43" name="Text 14"/>
          <p:cNvSpPr/>
          <p:nvPr/>
        </p:nvSpPr>
        <p:spPr>
          <a:xfrm>
            <a:off x="762000" y="3324225"/>
            <a:ext cx="554765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Output Generation</a:t>
            </a:r>
            <a:r>
              <a:rPr lang="en-US" sz="1200" dirty="0">
                <a:solidFill>
                  <a:srgbClr val="37415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- JSON response with prediction results</a:t>
            </a: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46" name="Text 17"/>
          <p:cNvSpPr/>
          <p:nvPr/>
        </p:nvSpPr>
        <p:spPr>
          <a:xfrm>
            <a:off x="6581775" y="1028700"/>
            <a:ext cx="67208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D4ED8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Streamlit Application Development</a:t>
            </a:r>
            <a:endParaRPr lang="en-US" sz="18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47" name="Text 18"/>
          <p:cNvSpPr/>
          <p:nvPr/>
        </p:nvSpPr>
        <p:spPr>
          <a:xfrm>
            <a:off x="6591300" y="1562100"/>
            <a:ext cx="158109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Interactive UI</a:t>
            </a:r>
            <a:endParaRPr lang="en-US" sz="13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48" name="Text 19"/>
          <p:cNvSpPr/>
          <p:nvPr/>
        </p:nvSpPr>
        <p:spPr>
          <a:xfrm>
            <a:off x="6324600" y="1866900"/>
            <a:ext cx="2514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Multi-section form with intuitive widgets</a:t>
            </a:r>
            <a:endParaRPr lang="en-US" sz="10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49" name="Text 20"/>
          <p:cNvSpPr/>
          <p:nvPr/>
        </p:nvSpPr>
        <p:spPr>
          <a:xfrm>
            <a:off x="923925" y="5605463"/>
            <a:ext cx="195488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Cognitive Games</a:t>
            </a:r>
            <a:endParaRPr lang="en-US" sz="13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50" name="Text 21"/>
          <p:cNvSpPr/>
          <p:nvPr/>
        </p:nvSpPr>
        <p:spPr>
          <a:xfrm>
            <a:off x="546675" y="5919788"/>
            <a:ext cx="30175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Integrated games to generate user profile</a:t>
            </a:r>
            <a:endParaRPr lang="en-US" sz="10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51" name="Text 22"/>
          <p:cNvSpPr/>
          <p:nvPr/>
        </p:nvSpPr>
        <p:spPr>
          <a:xfrm>
            <a:off x="3929300" y="5629276"/>
            <a:ext cx="2375475" cy="23928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Real-time Prediction</a:t>
            </a:r>
            <a:endParaRPr lang="en-US" sz="13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52" name="Text 23"/>
          <p:cNvSpPr/>
          <p:nvPr/>
        </p:nvSpPr>
        <p:spPr>
          <a:xfrm>
            <a:off x="3771900" y="5953126"/>
            <a:ext cx="3017520" cy="17091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Instant results with risk gauge and interpretability</a:t>
            </a:r>
            <a:endParaRPr lang="en-US" sz="10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55" name="Text 26"/>
          <p:cNvSpPr/>
          <p:nvPr/>
        </p:nvSpPr>
        <p:spPr>
          <a:xfrm>
            <a:off x="495300" y="4114800"/>
            <a:ext cx="56007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Cognitive Assessment Games</a:t>
            </a:r>
            <a:endParaRPr lang="en-US" sz="10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56" name="Text 27"/>
          <p:cNvSpPr/>
          <p:nvPr/>
        </p:nvSpPr>
        <p:spPr>
          <a:xfrm>
            <a:off x="647700" y="4505325"/>
            <a:ext cx="1178183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Memory Game</a:t>
            </a:r>
            <a:endParaRPr lang="en-US" sz="10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57" name="Text 28"/>
          <p:cNvSpPr/>
          <p:nvPr/>
        </p:nvSpPr>
        <p:spPr>
          <a:xfrm>
            <a:off x="4559945" y="4505325"/>
            <a:ext cx="156894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Pattern Recognition</a:t>
            </a:r>
            <a:endParaRPr lang="en-US" sz="10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58" name="Text 29"/>
          <p:cNvSpPr/>
          <p:nvPr/>
        </p:nvSpPr>
        <p:spPr>
          <a:xfrm>
            <a:off x="609600" y="4733925"/>
            <a:ext cx="113764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Reaction Time</a:t>
            </a:r>
            <a:endParaRPr lang="en-US" sz="10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59" name="Text 30"/>
          <p:cNvSpPr/>
          <p:nvPr/>
        </p:nvSpPr>
        <p:spPr>
          <a:xfrm>
            <a:off x="4890046" y="4733925"/>
            <a:ext cx="117282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Task Switching</a:t>
            </a:r>
            <a:endParaRPr lang="en-US" sz="10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60" name="Text 31"/>
          <p:cNvSpPr/>
          <p:nvPr/>
        </p:nvSpPr>
        <p:spPr>
          <a:xfrm>
            <a:off x="381000" y="5772150"/>
            <a:ext cx="114300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8 / 10</a:t>
            </a:r>
            <a:endParaRPr lang="en-US" sz="10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349A5DE2-1916-6178-10EA-9DDE7276C1F9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236910" y="2133600"/>
            <a:ext cx="2693924" cy="1295400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408D72CA-7D6D-AD9E-2D9A-0267D33F1218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288985" y="3581400"/>
            <a:ext cx="2585829" cy="1611847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6D380503-F6DF-5562-1A55-E29EC6A85B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7904" y="1414363"/>
            <a:ext cx="1772096" cy="4668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838200"/>
            <a:ext cx="1219200" cy="381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1104900"/>
            <a:ext cx="5486400" cy="260985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5834" y="980861"/>
            <a:ext cx="5486400" cy="18288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5100" y="1567357"/>
            <a:ext cx="457200" cy="4572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7975" y="1648814"/>
            <a:ext cx="171450" cy="2667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5100" y="2165405"/>
            <a:ext cx="457200" cy="4572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34163" y="2272207"/>
            <a:ext cx="219075" cy="266700"/>
          </a:xfrm>
          <a:prstGeom prst="rect">
            <a:avLst/>
          </a:prstGeom>
        </p:spPr>
      </p:pic>
      <p:sp>
        <p:nvSpPr>
          <p:cNvPr id="24" name="Text 0"/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E40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Results &amp; Performance Summary</a:t>
            </a:r>
            <a:endParaRPr lang="en-US" sz="2700" dirty="0"/>
          </a:p>
        </p:txBody>
      </p:sp>
      <p:sp>
        <p:nvSpPr>
          <p:cNvPr id="44" name="Text 20"/>
          <p:cNvSpPr/>
          <p:nvPr/>
        </p:nvSpPr>
        <p:spPr>
          <a:xfrm>
            <a:off x="6515100" y="1186357"/>
            <a:ext cx="5105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Clinical Value</a:t>
            </a:r>
            <a:endParaRPr lang="en-US" sz="1500" dirty="0"/>
          </a:p>
        </p:txBody>
      </p:sp>
      <p:sp>
        <p:nvSpPr>
          <p:cNvPr id="45" name="Text 21"/>
          <p:cNvSpPr/>
          <p:nvPr/>
        </p:nvSpPr>
        <p:spPr>
          <a:xfrm>
            <a:off x="7124700" y="1567357"/>
            <a:ext cx="305109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Early Detection</a:t>
            </a:r>
            <a:endParaRPr lang="en-US" sz="1200" dirty="0"/>
          </a:p>
        </p:txBody>
      </p:sp>
      <p:sp>
        <p:nvSpPr>
          <p:cNvPr id="46" name="Text 22"/>
          <p:cNvSpPr/>
          <p:nvPr/>
        </p:nvSpPr>
        <p:spPr>
          <a:xfrm>
            <a:off x="7124700" y="1795957"/>
            <a:ext cx="305109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Identifies patients in early stages</a:t>
            </a:r>
            <a:endParaRPr lang="en-US" sz="1200" dirty="0"/>
          </a:p>
        </p:txBody>
      </p:sp>
      <p:sp>
        <p:nvSpPr>
          <p:cNvPr id="47" name="Text 23"/>
          <p:cNvSpPr/>
          <p:nvPr/>
        </p:nvSpPr>
        <p:spPr>
          <a:xfrm>
            <a:off x="7124700" y="2176957"/>
            <a:ext cx="268140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Minimized Follow-up</a:t>
            </a:r>
            <a:endParaRPr lang="en-US" sz="1200" dirty="0"/>
          </a:p>
        </p:txBody>
      </p:sp>
      <p:sp>
        <p:nvSpPr>
          <p:cNvPr id="48" name="Text 24"/>
          <p:cNvSpPr/>
          <p:nvPr/>
        </p:nvSpPr>
        <p:spPr>
          <a:xfrm>
            <a:off x="7124700" y="2405557"/>
            <a:ext cx="268140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Reduces unnecessary testing</a:t>
            </a:r>
            <a:endParaRPr lang="en-US" sz="1200" dirty="0"/>
          </a:p>
        </p:txBody>
      </p:sp>
      <p:sp>
        <p:nvSpPr>
          <p:cNvPr id="49" name="Text 25"/>
          <p:cNvSpPr/>
          <p:nvPr/>
        </p:nvSpPr>
        <p:spPr>
          <a:xfrm>
            <a:off x="381000" y="5924550"/>
            <a:ext cx="114300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9 / 10</a:t>
            </a:r>
            <a:endParaRPr lang="en-US" sz="1050" dirty="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CC54CD90-83E0-EB69-59FE-F6A39E5FF14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1528" y="980861"/>
            <a:ext cx="6005108" cy="366871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838200"/>
            <a:ext cx="12192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066800"/>
            <a:ext cx="171450" cy="228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447800"/>
            <a:ext cx="5600700" cy="762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300" y="1609725"/>
            <a:ext cx="171450" cy="1714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2324100"/>
            <a:ext cx="5600700" cy="762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300" y="2486025"/>
            <a:ext cx="190500" cy="1714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3200400"/>
            <a:ext cx="5600700" cy="9906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300" y="3362325"/>
            <a:ext cx="171450" cy="1714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4305300"/>
            <a:ext cx="5600700" cy="762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5300" y="4467225"/>
            <a:ext cx="133350" cy="1714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10300" y="1066800"/>
            <a:ext cx="228600" cy="228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10300" y="1447800"/>
            <a:ext cx="5600700" cy="7620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24600" y="1609725"/>
            <a:ext cx="171450" cy="1714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10300" y="2324100"/>
            <a:ext cx="5600700" cy="7620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24600" y="2486025"/>
            <a:ext cx="190500" cy="17145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00050" y="5133975"/>
            <a:ext cx="5600700" cy="7620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14350" y="5295900"/>
            <a:ext cx="171450" cy="17145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10300" y="3181350"/>
            <a:ext cx="5600700" cy="7620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24600" y="3343275"/>
            <a:ext cx="133350" cy="17145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81000" y="6057900"/>
            <a:ext cx="171450" cy="171450"/>
          </a:xfrm>
          <a:prstGeom prst="rect">
            <a:avLst/>
          </a:prstGeom>
        </p:spPr>
      </p:pic>
      <p:sp>
        <p:nvSpPr>
          <p:cNvPr id="23" name="Text 0"/>
          <p:cNvSpPr/>
          <p:nvPr/>
        </p:nvSpPr>
        <p:spPr>
          <a:xfrm>
            <a:off x="381000" y="381000"/>
            <a:ext cx="13716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E40A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Key Findings &amp; Future Enhancements</a:t>
            </a:r>
            <a:endParaRPr lang="en-US" sz="27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4" name="Text 1"/>
          <p:cNvSpPr/>
          <p:nvPr/>
        </p:nvSpPr>
        <p:spPr>
          <a:xfrm>
            <a:off x="666750" y="1028700"/>
            <a:ext cx="56007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D4ED8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Key Findings</a:t>
            </a:r>
            <a:endParaRPr lang="en-US" sz="18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5" name="Text 2"/>
          <p:cNvSpPr/>
          <p:nvPr/>
        </p:nvSpPr>
        <p:spPr>
          <a:xfrm>
            <a:off x="742950" y="1562100"/>
            <a:ext cx="53721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563E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Cognitive Supremacy</a:t>
            </a:r>
            <a:endParaRPr lang="en-US" sz="13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6" name="Text 3"/>
          <p:cNvSpPr/>
          <p:nvPr/>
        </p:nvSpPr>
        <p:spPr>
          <a:xfrm>
            <a:off x="495300" y="1866900"/>
            <a:ext cx="64465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Direct cognitive assessments account for 66% of predictive power</a:t>
            </a: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7" name="Text 4"/>
          <p:cNvSpPr/>
          <p:nvPr/>
        </p:nvSpPr>
        <p:spPr>
          <a:xfrm>
            <a:off x="762000" y="2438400"/>
            <a:ext cx="53721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563E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Modifiable Factors</a:t>
            </a:r>
            <a:endParaRPr lang="en-US" sz="13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8" name="Text 5"/>
          <p:cNvSpPr/>
          <p:nvPr/>
        </p:nvSpPr>
        <p:spPr>
          <a:xfrm>
            <a:off x="495300" y="2743200"/>
            <a:ext cx="64465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Lifestyle features enable identification of high-risk individuals</a:t>
            </a: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9" name="Text 6"/>
          <p:cNvSpPr/>
          <p:nvPr/>
        </p:nvSpPr>
        <p:spPr>
          <a:xfrm>
            <a:off x="742950" y="3314700"/>
            <a:ext cx="53721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563E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Early Detection</a:t>
            </a:r>
            <a:endParaRPr lang="en-US" sz="13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0" name="Text 7"/>
          <p:cNvSpPr/>
          <p:nvPr/>
        </p:nvSpPr>
        <p:spPr>
          <a:xfrm>
            <a:off x="495300" y="3619500"/>
            <a:ext cx="53721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High sensitivity enables detection of patients with moderate MMSE scores</a:t>
            </a: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1" name="Text 8"/>
          <p:cNvSpPr/>
          <p:nvPr/>
        </p:nvSpPr>
        <p:spPr>
          <a:xfrm>
            <a:off x="704850" y="4419600"/>
            <a:ext cx="53721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563E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Clinical Alignment</a:t>
            </a:r>
            <a:endParaRPr lang="en-US" sz="13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2" name="Text 9"/>
          <p:cNvSpPr/>
          <p:nvPr/>
        </p:nvSpPr>
        <p:spPr>
          <a:xfrm>
            <a:off x="495300" y="4724400"/>
            <a:ext cx="64465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Feature importance aligns with established medical knowledge</a:t>
            </a: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3" name="Text 10"/>
          <p:cNvSpPr/>
          <p:nvPr/>
        </p:nvSpPr>
        <p:spPr>
          <a:xfrm>
            <a:off x="6553200" y="1028700"/>
            <a:ext cx="56007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7E22CE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Future Enhancements</a:t>
            </a:r>
            <a:endParaRPr lang="en-US" sz="18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4" name="Text 11"/>
          <p:cNvSpPr/>
          <p:nvPr/>
        </p:nvSpPr>
        <p:spPr>
          <a:xfrm>
            <a:off x="6572250" y="1562100"/>
            <a:ext cx="53721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9333EA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Longitudinal Modeling</a:t>
            </a:r>
            <a:endParaRPr lang="en-US" sz="13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5" name="Text 12"/>
          <p:cNvSpPr/>
          <p:nvPr/>
        </p:nvSpPr>
        <p:spPr>
          <a:xfrm>
            <a:off x="6324600" y="1866900"/>
            <a:ext cx="64465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Integrate time-series data to predict progression rates</a:t>
            </a: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6" name="Text 13"/>
          <p:cNvSpPr/>
          <p:nvPr/>
        </p:nvSpPr>
        <p:spPr>
          <a:xfrm>
            <a:off x="6591300" y="2438400"/>
            <a:ext cx="53721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9333EA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Multimodal Integration</a:t>
            </a:r>
            <a:endParaRPr lang="en-US" sz="13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7" name="Text 14"/>
          <p:cNvSpPr/>
          <p:nvPr/>
        </p:nvSpPr>
        <p:spPr>
          <a:xfrm>
            <a:off x="6324600" y="2743200"/>
            <a:ext cx="64465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Combine clinical features with imaging and biomarker data</a:t>
            </a: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8" name="Text 15"/>
          <p:cNvSpPr/>
          <p:nvPr/>
        </p:nvSpPr>
        <p:spPr>
          <a:xfrm>
            <a:off x="762000" y="5248275"/>
            <a:ext cx="53721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9333EA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SHAP Explanations</a:t>
            </a:r>
            <a:endParaRPr lang="en-US" sz="13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9" name="Text 16"/>
          <p:cNvSpPr/>
          <p:nvPr/>
        </p:nvSpPr>
        <p:spPr>
          <a:xfrm>
            <a:off x="514350" y="5553075"/>
            <a:ext cx="64465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Implement SHAP values for prediction transparency</a:t>
            </a: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40" name="Text 17"/>
          <p:cNvSpPr/>
          <p:nvPr/>
        </p:nvSpPr>
        <p:spPr>
          <a:xfrm>
            <a:off x="6534150" y="3295650"/>
            <a:ext cx="53721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9333EA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Real-time Monitoring</a:t>
            </a:r>
            <a:endParaRPr lang="en-US" sz="13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41" name="Text 18"/>
          <p:cNvSpPr/>
          <p:nvPr/>
        </p:nvSpPr>
        <p:spPr>
          <a:xfrm>
            <a:off x="6324600" y="3600450"/>
            <a:ext cx="64465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Develop mobile app for periodic cognitive assessments</a:t>
            </a: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42" name="Text 19"/>
          <p:cNvSpPr/>
          <p:nvPr/>
        </p:nvSpPr>
        <p:spPr>
          <a:xfrm>
            <a:off x="628650" y="6029325"/>
            <a:ext cx="429553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E40A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Project Success: 95.12% accuracy</a:t>
            </a:r>
            <a:endParaRPr lang="en-US" sz="13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43" name="Text 20"/>
          <p:cNvSpPr/>
          <p:nvPr/>
        </p:nvSpPr>
        <p:spPr>
          <a:xfrm>
            <a:off x="11341894" y="5257800"/>
            <a:ext cx="56292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10 / 10</a:t>
            </a:r>
            <a:endParaRPr lang="en-US" sz="10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13EB6-255A-A36B-18FC-611CCC234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0" descr="preencoded.png">
            <a:extLst>
              <a:ext uri="{FF2B5EF4-FFF2-40B4-BE49-F238E27FC236}">
                <a16:creationId xmlns:a16="http://schemas.microsoft.com/office/drawing/2014/main" id="{8A1B92BC-D259-3EB8-D41B-ECB53D8C09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1104900"/>
            <a:ext cx="5486400" cy="2609850"/>
          </a:xfrm>
          <a:prstGeom prst="rect">
            <a:avLst/>
          </a:prstGeom>
        </p:spPr>
      </p:pic>
      <p:pic>
        <p:nvPicPr>
          <p:cNvPr id="19" name="Image 17" descr="preencoded.png">
            <a:extLst>
              <a:ext uri="{FF2B5EF4-FFF2-40B4-BE49-F238E27FC236}">
                <a16:creationId xmlns:a16="http://schemas.microsoft.com/office/drawing/2014/main" id="{6906D391-833D-EE39-C036-EAD2AA5AC3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5834" y="980861"/>
            <a:ext cx="5486400" cy="1828800"/>
          </a:xfrm>
          <a:prstGeom prst="rect">
            <a:avLst/>
          </a:prstGeom>
        </p:spPr>
      </p:pic>
      <p:sp>
        <p:nvSpPr>
          <p:cNvPr id="24" name="Text 0">
            <a:extLst>
              <a:ext uri="{FF2B5EF4-FFF2-40B4-BE49-F238E27FC236}">
                <a16:creationId xmlns:a16="http://schemas.microsoft.com/office/drawing/2014/main" id="{7990C752-9FAF-FFA6-0A8B-6741919A9200}"/>
              </a:ext>
            </a:extLst>
          </p:cNvPr>
          <p:cNvSpPr/>
          <p:nvPr/>
        </p:nvSpPr>
        <p:spPr>
          <a:xfrm>
            <a:off x="3939746" y="3393518"/>
            <a:ext cx="13716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4400" b="1" dirty="0">
                <a:solidFill>
                  <a:srgbClr val="1E40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Thank You …</a:t>
            </a:r>
          </a:p>
          <a:p>
            <a:pPr marL="0" indent="0">
              <a:lnSpc>
                <a:spcPts val="3000"/>
              </a:lnSpc>
              <a:buNone/>
            </a:pPr>
            <a:endParaRPr lang="en-US" sz="4400" b="1" dirty="0">
              <a:solidFill>
                <a:srgbClr val="1E40AF"/>
              </a:solidFill>
              <a:latin typeface="ui-sans-serif" pitchFamily="34" charset="0"/>
              <a:ea typeface="ui-sans-serif" pitchFamily="34" charset="-122"/>
              <a:cs typeface="ui-sans-serif" pitchFamily="34" charset="-120"/>
            </a:endParaRPr>
          </a:p>
          <a:p>
            <a:pPr marL="0" indent="0">
              <a:lnSpc>
                <a:spcPts val="3000"/>
              </a:lnSpc>
              <a:buNone/>
            </a:pPr>
            <a:endParaRPr lang="en-US" sz="4400" b="1" dirty="0">
              <a:solidFill>
                <a:srgbClr val="1E40AF"/>
              </a:solidFill>
              <a:latin typeface="ui-sans-serif" pitchFamily="34" charset="0"/>
              <a:ea typeface="ui-sans-serif" pitchFamily="34" charset="-122"/>
            </a:endParaRPr>
          </a:p>
          <a:p>
            <a:pPr marL="0" indent="0">
              <a:lnSpc>
                <a:spcPts val="3000"/>
              </a:lnSpc>
              <a:buNone/>
            </a:pPr>
            <a:endParaRPr lang="en-US" sz="4400" b="1" dirty="0">
              <a:solidFill>
                <a:srgbClr val="1E40AF"/>
              </a:solidFill>
              <a:latin typeface="ui-sans-serif" pitchFamily="34" charset="0"/>
              <a:ea typeface="ui-sans-serif" pitchFamily="34" charset="-122"/>
            </a:endParaRPr>
          </a:p>
          <a:p>
            <a:pPr marL="0" indent="0">
              <a:lnSpc>
                <a:spcPts val="3000"/>
              </a:lnSpc>
              <a:buNone/>
            </a:pPr>
            <a:endParaRPr lang="en-US" sz="4400" dirty="0"/>
          </a:p>
        </p:txBody>
      </p:sp>
      <p:sp>
        <p:nvSpPr>
          <p:cNvPr id="49" name="Text 25">
            <a:extLst>
              <a:ext uri="{FF2B5EF4-FFF2-40B4-BE49-F238E27FC236}">
                <a16:creationId xmlns:a16="http://schemas.microsoft.com/office/drawing/2014/main" id="{DAADE960-7885-C658-EB31-84E4123AD6FC}"/>
              </a:ext>
            </a:extLst>
          </p:cNvPr>
          <p:cNvSpPr/>
          <p:nvPr/>
        </p:nvSpPr>
        <p:spPr>
          <a:xfrm>
            <a:off x="381000" y="5924550"/>
            <a:ext cx="114300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9 / 10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1025245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</TotalTime>
  <Words>856</Words>
  <Application>Microsoft Office PowerPoint</Application>
  <PresentationFormat>Widescreen</PresentationFormat>
  <Paragraphs>200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Sans Serif Collection</vt:lpstr>
      <vt:lpstr>ui-sans-serif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Manoj Kokane</cp:lastModifiedBy>
  <cp:revision>8</cp:revision>
  <dcterms:created xsi:type="dcterms:W3CDTF">2025-12-01T16:58:05Z</dcterms:created>
  <dcterms:modified xsi:type="dcterms:W3CDTF">2025-12-02T15:00:50Z</dcterms:modified>
</cp:coreProperties>
</file>